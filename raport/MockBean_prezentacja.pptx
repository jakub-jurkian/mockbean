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6151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[30s — wprowadzenie]</a:t>
            </a:r>
          </a:p>
          <a:p>
            <a:endParaRPr/>
          </a:p>
          <a:p>
            <a:r>
              <a:t>Dzień dobry. Mam na imię Jakub, numer indeksu 300806. Mój projekt nazywa się MockBean — to system, w którym sprawdzam, czy duże modele językowe potrafią zastąpić rekrutera technicznego oceniającego odpowiedzi kandydatów na stanowisko Junior Java Developer.</a:t>
            </a:r>
          </a:p>
          <a:p>
            <a:endParaRPr/>
          </a:p>
          <a:p>
            <a:r>
              <a:t>Zbudowałem aplikację Spring Boot z RAG na pgvector, przepuściłem przez nią trzy modele LLM w dwóch trybach i porównałem ich trafność na własnoręcznie przygotowanym zbiorze adversarialnym.</a:t>
            </a:r>
          </a:p>
          <a:p>
            <a:endParaRPr/>
          </a:p>
          <a:p>
            <a:r>
              <a:t>W ciągu najbliższych 10 minut pokażę pytanie badawcze, architekturę, wyniki — w tym dość zaskakujące odkrycie — i wnioski praktyczne.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[60s — problem i pytania badawcze]</a:t>
            </a:r>
          </a:p>
          <a:p>
            <a:endParaRPr/>
          </a:p>
          <a:p>
            <a:r>
              <a:t>Punkt wyjścia jest prosty: każdy kandydat na junior Javę pochłania seniorowi pół godziny do godziny, plus przerwę kontekstową. To realny koszt firmy. LLM-y obiecują automatyzację — pytanie tylko, czy nie zawodzą tam, gdzie najmniej tego chcemy, czyli przy odróżnianiu odpowiedzi naprawdę poprawnej od ładnie brzmiącej waty.</a:t>
            </a:r>
          </a:p>
          <a:p>
            <a:endParaRPr/>
          </a:p>
          <a:p>
            <a:r>
              <a:t>Postawiłem trzy pytania badawcze. Pierwsze: czy modele w ogóle dają radę ocenić Core Java. Drugie: czy klasyczny RAG — czyli dostarczenie modelowi wzorcowej odpowiedzi — poprawia, czy może pogarsza ocenę. Trzecie: czy lokalna, darmowa Llama 8B dorównuje płatnym modelom komercyjnym.</a:t>
            </a:r>
          </a:p>
          <a:p>
            <a:endParaRPr/>
          </a:p>
          <a:p>
            <a:r>
              <a:t>Spojler do RQ2 — wynik mnie samego zaskoczył.</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[75s — architektura]</a:t>
            </a:r>
          </a:p>
          <a:p>
            <a:endParaRPr/>
          </a:p>
          <a:p>
            <a:r>
              <a:t>To diagram architektury. Klient — w demie Python harness, w bardziej praktycznym zastosowaniu Swagger UI lub front — wysyła POST na endpoint evaluations z trzema polami: pytanie, odpowiedź kandydata, tryb.</a:t>
            </a:r>
          </a:p>
          <a:p>
            <a:endParaRPr/>
          </a:p>
          <a:p>
            <a:r>
              <a:t>EvaluationController przekazuje do EvaluationService. Tam logika rozdziela się na dwie ścieżki. W trybie RAG embedduję pytanie modelem nomic-embed-text, robię similarity search top-1 w pgvectorze, wyciągam wzorcową odpowiedź i wysyłam modelowi-sędziemu pytanie plus wzorzec plus odpowiedź kandydata. W trybie Pure pomijam całą sekcję retrievera — sędzia ocenia tylko na podstawie swojej wiedzy z pre-trainingu.</a:t>
            </a:r>
          </a:p>
          <a:p>
            <a:endParaRPr/>
          </a:p>
          <a:p>
            <a:r>
              <a:t>Sędzia zwraca strukturalnego JSON-a: score 0-1, mocne strony, pominięte koncepty, feedback. Wszystko ląduje do tabeli evaluation_log w Postgresie do późniejszej analizy.</a:t>
            </a:r>
          </a:p>
          <a:p>
            <a:endParaRPr/>
          </a:p>
          <a:p>
            <a:r>
              <a:t>Stack widzicie po prawej. Cała wymiana modelu odbywa się przez profile Springa — nie ruszam kodu, tylko podaję profil przy starcie aplikacji.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[60s — test set]</a:t>
            </a:r>
          </a:p>
          <a:p>
            <a:endParaRPr/>
          </a:p>
          <a:p>
            <a:r>
              <a:t>Cały zbiór testowy zrobiłem ręcznie — 40 par pytanie–odpowiedź z Core Javy i OOP. Pięć etykiet po osiem przypadków każda.</a:t>
            </a:r>
          </a:p>
          <a:p>
            <a:endParaRPr/>
          </a:p>
          <a:p>
            <a:r>
              <a:t>Pierwsze dwie klasy są "normalne": correct to pełna odpowiedź, partial — częściowa.</a:t>
            </a:r>
          </a:p>
          <a:p>
            <a:endParaRPr/>
          </a:p>
          <a:p>
            <a:r>
              <a:t>Trzy ostatnie — wrong, waffle i evasive — to grupa adversarialna. Wrong to merytoryczny błąd. Waffle to coś, co brzmi mądrze, używa dużo branżowego żargonu, ale jest puste. Evasive to "nie wiem, ale myślę że". Te trzy klasy powinny dostać niski wynik — i tu właśnie weryfikuje się, czy model jest sędzią rygorystycznym, czy łatwowiernym.</a:t>
            </a:r>
          </a:p>
          <a:p>
            <a:endParaRPr/>
          </a:p>
          <a:p>
            <a:r>
              <a:t>Niezależnie testowałem na bazie wiedzy z 50 wzorcowych Q&amp;A, w siedmiu tematach: Core Java, OOP, Collections, Exceptions, Spring, Multithreading, Hibernate.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[90s — wyniki główne]</a:t>
            </a:r>
          </a:p>
          <a:p>
            <a:endParaRPr/>
          </a:p>
          <a:p>
            <a:r>
              <a:t>To jest najważniejsza tabela całego projektu. Trzy modele w wierszach, dwa tryby po dwa runy w kolumnach. Wyniki są dwukrotnie powtórzone przy temperature zero, żeby zobaczyć powtarzalność.</a:t>
            </a:r>
          </a:p>
          <a:p>
            <a:endParaRPr/>
          </a:p>
          <a:p>
            <a:r>
              <a:t>Po pierwsze — zwycięzca. Claude Sonnet 4.6 w trybie Pure osiąga 92,5% trafności w obu runach. To znaczy, że na 40 przypadkach ośmiokrotnie pomylił bucket — głównie myląc correct z partial lub odwrotnie.</a:t>
            </a:r>
          </a:p>
          <a:p>
            <a:endParaRPr/>
          </a:p>
          <a:p>
            <a:r>
              <a:t>Po drugie — Llama. 8-miliardowy model open-source siada wyraźnie: 50% w RAG, 57,5% w Pure. To istotnie gorzej niż modele komercyjne; różnica do Claude'a sięga 35 punktów procentowych. Nie da się tego zrzucić na wahania statystyczne.</a:t>
            </a:r>
          </a:p>
          <a:p>
            <a:endParaRPr/>
          </a:p>
          <a:p>
            <a:r>
              <a:t>Po trzecie — i tu przechodzimy do tego, co najciekawsze — patrząc kolumnami widać, że tryb Pure systematycznie bije RAG. Każdy z trzech modeli. Tego się nie spodziewałem. O tym jest następny slajd.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[90s — kluczowe odkrycie]</a:t>
            </a:r>
          </a:p>
          <a:p>
            <a:endParaRPr/>
          </a:p>
          <a:p>
            <a:r>
              <a:t>To jest klucz całej pracy.</a:t>
            </a:r>
          </a:p>
          <a:p>
            <a:endParaRPr/>
          </a:p>
          <a:p>
            <a:r>
              <a:t>Mainstreamowe założenie w literaturze brzmi: dodaj retrieval, dostaniesz lepszą jakość. RAG jest dziś technologią domyślną przy każdym przypadku użycia LLM-a. A u mnie wyszło, że dla wszystkich trzech modeli — niezależnie czy to 8B model lokalny, czy frontier model — tryb Pure Prompt jest LEPSZY niż RAG. Claude: plus 10 punktów procentowych. Gemini i Llama: plus 7 i pół.</a:t>
            </a:r>
          </a:p>
          <a:p>
            <a:endParaRPr/>
          </a:p>
          <a:p>
            <a:r>
              <a:t>Moja hipoteza jest taka. W RAG-u wyciągam wzorcową odpowiedź z bazy metodą top-1 similarity search. Jeśli pytanie i wzorzec nie pokrywają się idealnie — a przy małej bazie 50 dokumentów się nie pokrywają — to sędzia dostaje mylący punkt odniesienia. Zaczyna nagradzać odpowiedzi za to, że BRZMIĄ jak wzorzec, a nie za to, że są MERYTORYCZNIE poprawne. Nazywam to "partial-match bias".</a:t>
            </a:r>
          </a:p>
          <a:p>
            <a:endParaRPr/>
          </a:p>
          <a:p>
            <a:r>
              <a:t>W trybie Pure tej pułapki nie ma. Sędzia ocenia tylko na podstawie swojej wiedzy. A że Core Java to dziedzina pokryta w pre-trainingu chyba lepiej niż jakakolwiek inna w IT — modele radzą sobie z tym świetnie.</a:t>
            </a:r>
          </a:p>
          <a:p>
            <a:endParaRPr/>
          </a:p>
          <a:p>
            <a:r>
              <a:t>To wynik specyficzny dla mojej domeny. W niszowych albo nowych dziedzinach RAG dalej jest niezastąpiony. Ale w klasycznych zagadnieniach IT — warto zacząć od baseline'u Pure.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[75s — rygor metodologiczny]</a:t>
            </a:r>
          </a:p>
          <a:p>
            <a:endParaRPr/>
          </a:p>
          <a:p>
            <a:r>
              <a:t>Krótko o dwóch dodatkowych analizach, które wzmacniają wiarygodność wniosków.</a:t>
            </a:r>
          </a:p>
          <a:p>
            <a:endParaRPr/>
          </a:p>
          <a:p>
            <a:r>
              <a:t>Po lewej heatmap accuracy per etykieta. Widać, że klasa correct jest rozpoznawana bezbłędnie przez wszystkie modele — to łatwy przypadek. Najwięcej zamieszania jest między partial a low. I co istotne, Llama w trybie RAG ma 12% trafności na klasie wrong — czyli prawie NIGDY nie wykrywa błędnej odpowiedzi. To podręcznikowy leniency bias.</a:t>
            </a:r>
          </a:p>
          <a:p>
            <a:endParaRPr/>
          </a:p>
          <a:p>
            <a:r>
              <a:t>Po prawej bootstrap 95% CI. Test set ma tylko 40 przypadków, więc szerokość przedziałów to od ±9 do ±15 punktów procentowych. Mimo to: dolna granica CI dla Claude'a w trybie Pure to 82,5% — i jest WYŻSZA niż górna granica CI dla Llamy w trybie Pure, czyli 72,5%. Przedziały się nie nakładają. To znaczy, że różnica między tymi dwoma modelami jest statystycznie istotna nawet przy tak małej próbie.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 latencja i koszt]</a:t>
            </a:r>
          </a:p>
          <a:p>
            <a:endParaRPr/>
          </a:p>
          <a:p>
            <a:r>
              <a:t>Z punktu widzenia wdrożenia same wyniki nie wystarczą. Po lewej Claude — najwyższa jakość, ale najwyższy koszt: 7,5 sekundy na ocenę i około 30 centów za 40 ocen.</a:t>
            </a:r>
          </a:p>
          <a:p>
            <a:endParaRPr/>
          </a:p>
          <a:p>
            <a:r>
              <a:t>Po prawej Llama — darmowa, ale 25 sekund na pojedynczą ocenę i tylko 57% trafności. Wniosek: w tym zastosowaniu lokalna 8B nie zastępuje API.</a:t>
            </a:r>
          </a:p>
          <a:p>
            <a:endParaRPr/>
          </a:p>
          <a:p>
            <a:r>
              <a:t>Na środku Gemini. Niemal porównywalna jakość do Claude'a — 85% versus 92% — przy dziesięciokrotnie niższym koszcie. To jest sweet spot Pareto: jeśli zależy mi na trafności i mam budżet poniżej dolara dziennie, Gemini wystarczy. Jeśli zależy na każdym pojedynczym procencie trafności — Claude.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[75s — zamknięcie]</a:t>
            </a:r>
          </a:p>
          <a:p>
            <a:endParaRPr/>
          </a:p>
          <a:p>
            <a:r>
              <a:t>Trzy uczciwe ograniczenia, które sam podkreślam w raporcie.</a:t>
            </a:r>
          </a:p>
          <a:p>
            <a:endParaRPr/>
          </a:p>
          <a:p>
            <a:r>
              <a:t>Po pierwsze: n=40 to mało. Stąd bootstrap CI i ostrożne formułowanie wniosków.</a:t>
            </a:r>
          </a:p>
          <a:p>
            <a:endParaRPr/>
          </a:p>
          <a:p>
            <a:r>
              <a:t>Po drugie: testowałem tylko top-1 retrieval. Możliwe, że top-3 zmieniłby obraz partial-match biasu — to naturalny kierunek dalszej pracy.</a:t>
            </a:r>
          </a:p>
          <a:p>
            <a:endParaRPr/>
          </a:p>
          <a:p>
            <a:r>
              <a:t>Po trzecie: etykiety wystawiałem sam. Pełna walidacja wymagałaby porównania z panelem rekruterów-ludzi — to też przyszła praca.</a:t>
            </a:r>
          </a:p>
          <a:p>
            <a:endParaRPr/>
          </a:p>
          <a:p>
            <a:r>
              <a:t>Cztery wnioski końcowe.</a:t>
            </a:r>
          </a:p>
          <a:p>
            <a:endParaRPr/>
          </a:p>
          <a:p>
            <a:r>
              <a:t>Pierwszy: modele komercyjne są realnie zdatne do roli sędziego technicznego — 92% i 85% trafności to wyniki, które stawiają je w pozycji wiarygodnego asystenta rekrutera, nie zastępcy, ale asystenta.</a:t>
            </a:r>
          </a:p>
          <a:p>
            <a:endParaRPr/>
          </a:p>
          <a:p>
            <a:r>
              <a:t>Drugi: i to chyba najbardziej kontr-intuicyjny — RAG nie zawsze pomaga. W dziedzinach mocno pokrytych pre-trainingiem warto najpierw zmierzyć baseline Pure i dopiero potem dokładać retrieval.</a:t>
            </a:r>
          </a:p>
          <a:p>
            <a:endParaRPr/>
          </a:p>
          <a:p>
            <a:r>
              <a:t>Trzeci: lokalna Llama 8B jako autonomiczny sędzia odpada. 57% to za mało.</a:t>
            </a:r>
          </a:p>
          <a:p>
            <a:endParaRPr/>
          </a:p>
          <a:p>
            <a:r>
              <a:t>Czwarty: jeśli wybieramy model do ewaluacji, deterministyczność jest twardym wymaganiem — Claude jest tu w pełni powtarzalny, Gemini niestety nie.</a:t>
            </a:r>
          </a:p>
          <a:p>
            <a:endParaRPr/>
          </a:p>
          <a:p>
            <a:r>
              <a:t>Dziękuję. Cały raport zostawiam w pliku LaTeX, kod jest na repozytorium. Chętnie odpowiem na pytania.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1371600"/>
            <a:ext cx="73152" cy="4114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058400" cy="365760"/>
          </a:xfrm>
          <a:prstGeom prst="rect">
            <a:avLst/>
          </a:prstGeom>
          <a:noFill/>
        </p:spPr>
        <p:txBody>
          <a:bodyPr wrap="square" lIns="0" tIns="0" rIns="0" bIns="0" anchor="t">
            <a:spAutoFit/>
          </a:bodyPr>
          <a:lstStyle/>
          <a:p>
            <a:pPr algn="l"/>
            <a:r>
              <a:rPr sz="1200" b="1">
                <a:solidFill>
                  <a:srgbClr val="0D9488"/>
                </a:solidFill>
                <a:latin typeface="Calibri"/>
              </a:rPr>
              <a:t>RAPORT BADAWCZY · UG 2025/26</a:t>
            </a:r>
          </a:p>
        </p:txBody>
      </p:sp>
      <p:sp>
        <p:nvSpPr>
          <p:cNvPr id="5" name="TextBox 4"/>
          <p:cNvSpPr txBox="1"/>
          <p:nvPr/>
        </p:nvSpPr>
        <p:spPr>
          <a:xfrm>
            <a:off x="914400" y="1828800"/>
            <a:ext cx="10058400" cy="1280160"/>
          </a:xfrm>
          <a:prstGeom prst="rect">
            <a:avLst/>
          </a:prstGeom>
          <a:noFill/>
        </p:spPr>
        <p:txBody>
          <a:bodyPr wrap="square" lIns="0" tIns="0" rIns="0" bIns="0" anchor="t">
            <a:spAutoFit/>
          </a:bodyPr>
          <a:lstStyle/>
          <a:p>
            <a:pPr algn="l"/>
            <a:r>
              <a:rPr sz="6400" b="1">
                <a:solidFill>
                  <a:srgbClr val="FFFFFF"/>
                </a:solidFill>
                <a:latin typeface="Calibri"/>
              </a:rPr>
              <a:t>LLM-as-a-Judge</a:t>
            </a:r>
          </a:p>
        </p:txBody>
      </p:sp>
      <p:sp>
        <p:nvSpPr>
          <p:cNvPr id="6" name="TextBox 5"/>
          <p:cNvSpPr txBox="1"/>
          <p:nvPr/>
        </p:nvSpPr>
        <p:spPr>
          <a:xfrm>
            <a:off x="914400" y="3200400"/>
            <a:ext cx="10058400" cy="1463040"/>
          </a:xfrm>
          <a:prstGeom prst="rect">
            <a:avLst/>
          </a:prstGeom>
          <a:noFill/>
        </p:spPr>
        <p:txBody>
          <a:bodyPr wrap="square" lIns="0" tIns="0" rIns="0" bIns="0" anchor="t">
            <a:spAutoFit/>
          </a:bodyPr>
          <a:lstStyle/>
          <a:p>
            <a:pPr algn="l"/>
            <a:r>
              <a:rPr sz="2800" b="0">
                <a:solidFill>
                  <a:srgbClr val="F8FAFC"/>
                </a:solidFill>
                <a:latin typeface="Calibri"/>
              </a:rPr>
              <a:t>Czy modele językowe nadają się na stanowisko
rekrutera technicznego?</a:t>
            </a:r>
          </a:p>
        </p:txBody>
      </p:sp>
      <p:sp>
        <p:nvSpPr>
          <p:cNvPr id="7" name="Rectangle 6"/>
          <p:cNvSpPr/>
          <p:nvPr/>
        </p:nvSpPr>
        <p:spPr>
          <a:xfrm>
            <a:off x="0" y="5943600"/>
            <a:ext cx="12191695" cy="914400"/>
          </a:xfrm>
          <a:prstGeom prst="rect">
            <a:avLst/>
          </a:prstGeom>
          <a:solidFill>
            <a:srgbClr val="070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6126480"/>
            <a:ext cx="7315200" cy="365760"/>
          </a:xfrm>
          <a:prstGeom prst="rect">
            <a:avLst/>
          </a:prstGeom>
          <a:noFill/>
        </p:spPr>
        <p:txBody>
          <a:bodyPr wrap="square" lIns="0" tIns="0" rIns="0" bIns="0" anchor="t">
            <a:spAutoFit/>
          </a:bodyPr>
          <a:lstStyle/>
          <a:p>
            <a:pPr algn="l"/>
            <a:r>
              <a:rPr sz="1400" b="1">
                <a:solidFill>
                  <a:srgbClr val="FFFFFF"/>
                </a:solidFill>
                <a:latin typeface="Calibri"/>
              </a:rPr>
              <a:t>Jakub Jurkian · nr indeksu 300806</a:t>
            </a:r>
          </a:p>
        </p:txBody>
      </p:sp>
      <p:sp>
        <p:nvSpPr>
          <p:cNvPr id="10" name="TextBox 9"/>
          <p:cNvSpPr txBox="1"/>
          <p:nvPr/>
        </p:nvSpPr>
        <p:spPr>
          <a:xfrm>
            <a:off x="8686800" y="6263640"/>
            <a:ext cx="3200400" cy="365760"/>
          </a:xfrm>
          <a:prstGeom prst="rect">
            <a:avLst/>
          </a:prstGeom>
          <a:noFill/>
        </p:spPr>
        <p:txBody>
          <a:bodyPr wrap="square" lIns="0" tIns="0" rIns="0" bIns="0" anchor="t">
            <a:spAutoFit/>
          </a:bodyPr>
          <a:lstStyle/>
          <a:p>
            <a:pPr algn="r"/>
            <a:r>
              <a:rPr sz="1200" b="0">
                <a:solidFill>
                  <a:srgbClr val="0D9488"/>
                </a:solidFill>
                <a:latin typeface="Calibri"/>
              </a:rPr>
              <a:t>Inteligencja Obliczeniowa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2 · PROBLEM</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Po co automatyczny sędzia w rekrutacji?</a:t>
            </a:r>
          </a:p>
        </p:txBody>
      </p:sp>
      <p:sp>
        <p:nvSpPr>
          <p:cNvPr id="5" name="TextBox 4"/>
          <p:cNvSpPr txBox="1"/>
          <p:nvPr/>
        </p:nvSpPr>
        <p:spPr>
          <a:xfrm>
            <a:off x="548640" y="1554480"/>
            <a:ext cx="5486400" cy="411480"/>
          </a:xfrm>
          <a:prstGeom prst="rect">
            <a:avLst/>
          </a:prstGeom>
          <a:noFill/>
        </p:spPr>
        <p:txBody>
          <a:bodyPr wrap="square" lIns="0" tIns="0" rIns="0" bIns="0" anchor="t">
            <a:spAutoFit/>
          </a:bodyPr>
          <a:lstStyle/>
          <a:p>
            <a:pPr algn="l"/>
            <a:r>
              <a:rPr sz="1200" b="1">
                <a:solidFill>
                  <a:srgbClr val="EF4444"/>
                </a:solidFill>
                <a:latin typeface="Calibri"/>
              </a:rPr>
              <a:t>PROBLEM</a:t>
            </a:r>
          </a:p>
        </p:txBody>
      </p:sp>
      <p:sp>
        <p:nvSpPr>
          <p:cNvPr id="6" name="TextBox 5"/>
          <p:cNvSpPr txBox="1"/>
          <p:nvPr/>
        </p:nvSpPr>
        <p:spPr>
          <a:xfrm>
            <a:off x="548640" y="1920240"/>
            <a:ext cx="5486400" cy="2286000"/>
          </a:xfrm>
          <a:prstGeom prst="rect">
            <a:avLst/>
          </a:prstGeom>
          <a:noFill/>
        </p:spPr>
        <p:txBody>
          <a:bodyPr wrap="square" lIns="0" tIns="0" rIns="0" bIns="0" anchor="t">
            <a:spAutoFit/>
          </a:bodyPr>
          <a:lstStyle/>
          <a:p>
            <a:pPr algn="l"/>
            <a:r>
              <a:rPr sz="1700" b="0">
                <a:solidFill>
                  <a:srgbClr val="1E293B"/>
                </a:solidFill>
                <a:latin typeface="Calibri"/>
              </a:rPr>
              <a:t>Ocena 1 kandydata na Junior Java =
30–60 min czasu seniora.
LLM-y obiecują automatyzację —
ale czy są wiarygodne na tym etapie?</a:t>
            </a:r>
          </a:p>
        </p:txBody>
      </p:sp>
      <p:sp>
        <p:nvSpPr>
          <p:cNvPr id="7" name="Rectangle 6"/>
          <p:cNvSpPr/>
          <p:nvPr/>
        </p:nvSpPr>
        <p:spPr>
          <a:xfrm>
            <a:off x="6583680" y="1554480"/>
            <a:ext cx="512064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0" y="1554480"/>
            <a:ext cx="73152" cy="4297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3720" y="1783080"/>
            <a:ext cx="4572000" cy="365760"/>
          </a:xfrm>
          <a:prstGeom prst="rect">
            <a:avLst/>
          </a:prstGeom>
          <a:noFill/>
        </p:spPr>
        <p:txBody>
          <a:bodyPr wrap="square" lIns="0" tIns="0" rIns="0" bIns="0" anchor="t">
            <a:spAutoFit/>
          </a:bodyPr>
          <a:lstStyle/>
          <a:p>
            <a:pPr algn="l"/>
            <a:r>
              <a:rPr sz="1200" b="1">
                <a:solidFill>
                  <a:srgbClr val="0D9488"/>
                </a:solidFill>
                <a:latin typeface="Calibri"/>
              </a:rPr>
              <a:t>PYTANIA BADAWCZE</a:t>
            </a:r>
          </a:p>
        </p:txBody>
      </p:sp>
      <p:sp>
        <p:nvSpPr>
          <p:cNvPr id="10" name="TextBox 9"/>
          <p:cNvSpPr txBox="1"/>
          <p:nvPr/>
        </p:nvSpPr>
        <p:spPr>
          <a:xfrm>
            <a:off x="6903720" y="2331720"/>
            <a:ext cx="731520" cy="457200"/>
          </a:xfrm>
          <a:prstGeom prst="rect">
            <a:avLst/>
          </a:prstGeom>
          <a:noFill/>
        </p:spPr>
        <p:txBody>
          <a:bodyPr wrap="square" lIns="0" tIns="0" rIns="0" bIns="0" anchor="t">
            <a:spAutoFit/>
          </a:bodyPr>
          <a:lstStyle/>
          <a:p>
            <a:pPr algn="l"/>
            <a:r>
              <a:rPr sz="2400" b="1">
                <a:solidFill>
                  <a:srgbClr val="0D9488"/>
                </a:solidFill>
                <a:latin typeface="Calibri"/>
              </a:rPr>
              <a:t>RQ1</a:t>
            </a:r>
          </a:p>
        </p:txBody>
      </p:sp>
      <p:sp>
        <p:nvSpPr>
          <p:cNvPr id="11" name="TextBox 10"/>
          <p:cNvSpPr txBox="1"/>
          <p:nvPr/>
        </p:nvSpPr>
        <p:spPr>
          <a:xfrm>
            <a:off x="7635240" y="2404872"/>
            <a:ext cx="3840480" cy="1005840"/>
          </a:xfrm>
          <a:prstGeom prst="rect">
            <a:avLst/>
          </a:prstGeom>
          <a:noFill/>
        </p:spPr>
        <p:txBody>
          <a:bodyPr wrap="square" lIns="0" tIns="0" rIns="0" bIns="0" anchor="t">
            <a:spAutoFit/>
          </a:bodyPr>
          <a:lstStyle/>
          <a:p>
            <a:pPr algn="l"/>
            <a:r>
              <a:rPr sz="1400" b="0">
                <a:solidFill>
                  <a:srgbClr val="1E293B"/>
                </a:solidFill>
                <a:latin typeface="Calibri"/>
              </a:rPr>
              <a:t>Czy LLM-y potrafią rzetelnie oceniać odpowiedzi z Core Java?</a:t>
            </a:r>
          </a:p>
        </p:txBody>
      </p:sp>
      <p:sp>
        <p:nvSpPr>
          <p:cNvPr id="12" name="TextBox 11"/>
          <p:cNvSpPr txBox="1"/>
          <p:nvPr/>
        </p:nvSpPr>
        <p:spPr>
          <a:xfrm>
            <a:off x="6903720" y="3474720"/>
            <a:ext cx="731520" cy="457200"/>
          </a:xfrm>
          <a:prstGeom prst="rect">
            <a:avLst/>
          </a:prstGeom>
          <a:noFill/>
        </p:spPr>
        <p:txBody>
          <a:bodyPr wrap="square" lIns="0" tIns="0" rIns="0" bIns="0" anchor="t">
            <a:spAutoFit/>
          </a:bodyPr>
          <a:lstStyle/>
          <a:p>
            <a:pPr algn="l"/>
            <a:r>
              <a:rPr sz="2400" b="1">
                <a:solidFill>
                  <a:srgbClr val="0D9488"/>
                </a:solidFill>
                <a:latin typeface="Calibri"/>
              </a:rPr>
              <a:t>RQ2</a:t>
            </a:r>
          </a:p>
        </p:txBody>
      </p:sp>
      <p:sp>
        <p:nvSpPr>
          <p:cNvPr id="13" name="TextBox 12"/>
          <p:cNvSpPr txBox="1"/>
          <p:nvPr/>
        </p:nvSpPr>
        <p:spPr>
          <a:xfrm>
            <a:off x="7635240" y="3547872"/>
            <a:ext cx="3840480" cy="1005840"/>
          </a:xfrm>
          <a:prstGeom prst="rect">
            <a:avLst/>
          </a:prstGeom>
          <a:noFill/>
        </p:spPr>
        <p:txBody>
          <a:bodyPr wrap="square" lIns="0" tIns="0" rIns="0" bIns="0" anchor="t">
            <a:spAutoFit/>
          </a:bodyPr>
          <a:lstStyle/>
          <a:p>
            <a:pPr algn="l"/>
            <a:r>
              <a:rPr sz="1400" b="0">
                <a:solidFill>
                  <a:srgbClr val="1E293B"/>
                </a:solidFill>
                <a:latin typeface="Calibri"/>
              </a:rPr>
              <a:t>Czy RAG poprawia jakość oceny względem Pure Prompt?</a:t>
            </a:r>
          </a:p>
        </p:txBody>
      </p:sp>
      <p:sp>
        <p:nvSpPr>
          <p:cNvPr id="14" name="TextBox 13"/>
          <p:cNvSpPr txBox="1"/>
          <p:nvPr/>
        </p:nvSpPr>
        <p:spPr>
          <a:xfrm>
            <a:off x="6903720" y="4617720"/>
            <a:ext cx="731520" cy="457200"/>
          </a:xfrm>
          <a:prstGeom prst="rect">
            <a:avLst/>
          </a:prstGeom>
          <a:noFill/>
        </p:spPr>
        <p:txBody>
          <a:bodyPr wrap="square" lIns="0" tIns="0" rIns="0" bIns="0" anchor="t">
            <a:spAutoFit/>
          </a:bodyPr>
          <a:lstStyle/>
          <a:p>
            <a:pPr algn="l"/>
            <a:r>
              <a:rPr sz="2400" b="1">
                <a:solidFill>
                  <a:srgbClr val="0D9488"/>
                </a:solidFill>
                <a:latin typeface="Calibri"/>
              </a:rPr>
              <a:t>RQ3</a:t>
            </a:r>
          </a:p>
        </p:txBody>
      </p:sp>
      <p:sp>
        <p:nvSpPr>
          <p:cNvPr id="15" name="TextBox 14"/>
          <p:cNvSpPr txBox="1"/>
          <p:nvPr/>
        </p:nvSpPr>
        <p:spPr>
          <a:xfrm>
            <a:off x="7635240" y="4690872"/>
            <a:ext cx="3840480" cy="1005840"/>
          </a:xfrm>
          <a:prstGeom prst="rect">
            <a:avLst/>
          </a:prstGeom>
          <a:noFill/>
        </p:spPr>
        <p:txBody>
          <a:bodyPr wrap="square" lIns="0" tIns="0" rIns="0" bIns="0" anchor="t">
            <a:spAutoFit/>
          </a:bodyPr>
          <a:lstStyle/>
          <a:p>
            <a:pPr algn="l"/>
            <a:r>
              <a:rPr sz="1400" b="0">
                <a:solidFill>
                  <a:srgbClr val="1E293B"/>
                </a:solidFill>
                <a:latin typeface="Calibri"/>
              </a:rPr>
              <a:t>Czy lokalny model open-source dorównuje modelom komercyjnym?</a:t>
            </a:r>
          </a:p>
        </p:txBody>
      </p:sp>
      <p:sp>
        <p:nvSpPr>
          <p:cNvPr id="16" name="TextBox 15"/>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17" name="TextBox 16"/>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2 / 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3 · ARCHITEKTURA</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Jak działa MockBean</a:t>
            </a:r>
          </a:p>
        </p:txBody>
      </p:sp>
      <p:pic>
        <p:nvPicPr>
          <p:cNvPr id="5" name="Picture 4" descr="architektura.png"/>
          <p:cNvPicPr>
            <a:picLocks noChangeAspect="1"/>
          </p:cNvPicPr>
          <p:nvPr/>
        </p:nvPicPr>
        <p:blipFill>
          <a:blip r:embed="rId3"/>
          <a:stretch>
            <a:fillRect/>
          </a:stretch>
        </p:blipFill>
        <p:spPr>
          <a:xfrm>
            <a:off x="548640" y="1600200"/>
            <a:ext cx="7772400" cy="4342122"/>
          </a:xfrm>
          <a:prstGeom prst="rect">
            <a:avLst/>
          </a:prstGeom>
        </p:spPr>
      </p:pic>
      <p:sp>
        <p:nvSpPr>
          <p:cNvPr id="6" name="TextBox 5"/>
          <p:cNvSpPr txBox="1"/>
          <p:nvPr/>
        </p:nvSpPr>
        <p:spPr>
          <a:xfrm>
            <a:off x="8595360" y="1554480"/>
            <a:ext cx="3200400" cy="365760"/>
          </a:xfrm>
          <a:prstGeom prst="rect">
            <a:avLst/>
          </a:prstGeom>
          <a:noFill/>
        </p:spPr>
        <p:txBody>
          <a:bodyPr wrap="square" lIns="0" tIns="0" rIns="0" bIns="0" anchor="t">
            <a:spAutoFit/>
          </a:bodyPr>
          <a:lstStyle/>
          <a:p>
            <a:pPr algn="l"/>
            <a:r>
              <a:rPr sz="1200" b="1">
                <a:solidFill>
                  <a:srgbClr val="0D9488"/>
                </a:solidFill>
                <a:latin typeface="Calibri"/>
              </a:rPr>
              <a:t>STOS TECHNOLOGICZNY</a:t>
            </a:r>
          </a:p>
        </p:txBody>
      </p:sp>
      <p:sp>
        <p:nvSpPr>
          <p:cNvPr id="7" name="Rectangle 6"/>
          <p:cNvSpPr/>
          <p:nvPr/>
        </p:nvSpPr>
        <p:spPr>
          <a:xfrm>
            <a:off x="8595360" y="208483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0" y="1965960"/>
            <a:ext cx="3017520" cy="365760"/>
          </a:xfrm>
          <a:prstGeom prst="rect">
            <a:avLst/>
          </a:prstGeom>
          <a:noFill/>
        </p:spPr>
        <p:txBody>
          <a:bodyPr wrap="square" lIns="0" tIns="0" rIns="0" bIns="0" anchor="t">
            <a:spAutoFit/>
          </a:bodyPr>
          <a:lstStyle/>
          <a:p>
            <a:pPr algn="l"/>
            <a:r>
              <a:rPr sz="1300" b="0">
                <a:solidFill>
                  <a:srgbClr val="1E293B"/>
                </a:solidFill>
                <a:latin typeface="Calibri"/>
              </a:rPr>
              <a:t>Java 21 · Spring Boot 3.5</a:t>
            </a:r>
          </a:p>
        </p:txBody>
      </p:sp>
      <p:sp>
        <p:nvSpPr>
          <p:cNvPr id="9" name="Rectangle 8"/>
          <p:cNvSpPr/>
          <p:nvPr/>
        </p:nvSpPr>
        <p:spPr>
          <a:xfrm>
            <a:off x="8595360" y="249631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0" y="2377440"/>
            <a:ext cx="3017520" cy="365760"/>
          </a:xfrm>
          <a:prstGeom prst="rect">
            <a:avLst/>
          </a:prstGeom>
          <a:noFill/>
        </p:spPr>
        <p:txBody>
          <a:bodyPr wrap="square" lIns="0" tIns="0" rIns="0" bIns="0" anchor="t">
            <a:spAutoFit/>
          </a:bodyPr>
          <a:lstStyle/>
          <a:p>
            <a:pPr algn="l"/>
            <a:r>
              <a:rPr sz="1300" b="0">
                <a:solidFill>
                  <a:srgbClr val="1E293B"/>
                </a:solidFill>
                <a:latin typeface="Calibri"/>
              </a:rPr>
              <a:t>LangChain4j 0.29</a:t>
            </a:r>
          </a:p>
        </p:txBody>
      </p:sp>
      <p:sp>
        <p:nvSpPr>
          <p:cNvPr id="11" name="Rectangle 10"/>
          <p:cNvSpPr/>
          <p:nvPr/>
        </p:nvSpPr>
        <p:spPr>
          <a:xfrm>
            <a:off x="8595360" y="290779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0" y="2788920"/>
            <a:ext cx="3017520" cy="365760"/>
          </a:xfrm>
          <a:prstGeom prst="rect">
            <a:avLst/>
          </a:prstGeom>
          <a:noFill/>
        </p:spPr>
        <p:txBody>
          <a:bodyPr wrap="square" lIns="0" tIns="0" rIns="0" bIns="0" anchor="t">
            <a:spAutoFit/>
          </a:bodyPr>
          <a:lstStyle/>
          <a:p>
            <a:pPr algn="l"/>
            <a:r>
              <a:rPr sz="1300" b="0">
                <a:solidFill>
                  <a:srgbClr val="1E293B"/>
                </a:solidFill>
                <a:latin typeface="Calibri"/>
              </a:rPr>
              <a:t>PostgreSQL + pgvector</a:t>
            </a:r>
          </a:p>
        </p:txBody>
      </p:sp>
      <p:sp>
        <p:nvSpPr>
          <p:cNvPr id="13" name="Rectangle 12"/>
          <p:cNvSpPr/>
          <p:nvPr/>
        </p:nvSpPr>
        <p:spPr>
          <a:xfrm>
            <a:off x="8595360" y="331927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3200400"/>
            <a:ext cx="3017520" cy="365760"/>
          </a:xfrm>
          <a:prstGeom prst="rect">
            <a:avLst/>
          </a:prstGeom>
          <a:noFill/>
        </p:spPr>
        <p:txBody>
          <a:bodyPr wrap="square" lIns="0" tIns="0" rIns="0" bIns="0" anchor="t">
            <a:spAutoFit/>
          </a:bodyPr>
          <a:lstStyle/>
          <a:p>
            <a:pPr algn="l"/>
            <a:r>
              <a:rPr sz="1300" b="0">
                <a:solidFill>
                  <a:srgbClr val="1E293B"/>
                </a:solidFill>
                <a:latin typeface="Calibri"/>
              </a:rPr>
              <a:t>Ollama (Llama lokalnie)</a:t>
            </a:r>
          </a:p>
        </p:txBody>
      </p:sp>
      <p:sp>
        <p:nvSpPr>
          <p:cNvPr id="15" name="Rectangle 14"/>
          <p:cNvSpPr/>
          <p:nvPr/>
        </p:nvSpPr>
        <p:spPr>
          <a:xfrm>
            <a:off x="8595360" y="373075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0" y="3611880"/>
            <a:ext cx="3017520" cy="365760"/>
          </a:xfrm>
          <a:prstGeom prst="rect">
            <a:avLst/>
          </a:prstGeom>
          <a:noFill/>
        </p:spPr>
        <p:txBody>
          <a:bodyPr wrap="square" lIns="0" tIns="0" rIns="0" bIns="0" anchor="t">
            <a:spAutoFit/>
          </a:bodyPr>
          <a:lstStyle/>
          <a:p>
            <a:pPr algn="l"/>
            <a:r>
              <a:rPr sz="1300" b="0">
                <a:solidFill>
                  <a:srgbClr val="1E293B"/>
                </a:solidFill>
                <a:latin typeface="Calibri"/>
              </a:rPr>
              <a:t>Anthropic API · Google API</a:t>
            </a:r>
          </a:p>
        </p:txBody>
      </p:sp>
      <p:sp>
        <p:nvSpPr>
          <p:cNvPr id="17" name="Rectangle 16"/>
          <p:cNvSpPr/>
          <p:nvPr/>
        </p:nvSpPr>
        <p:spPr>
          <a:xfrm>
            <a:off x="8595360" y="4142232"/>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0" y="4023360"/>
            <a:ext cx="3017520" cy="365760"/>
          </a:xfrm>
          <a:prstGeom prst="rect">
            <a:avLst/>
          </a:prstGeom>
          <a:noFill/>
        </p:spPr>
        <p:txBody>
          <a:bodyPr wrap="square" lIns="0" tIns="0" rIns="0" bIns="0" anchor="t">
            <a:spAutoFit/>
          </a:bodyPr>
          <a:lstStyle/>
          <a:p>
            <a:pPr algn="l"/>
            <a:r>
              <a:rPr sz="1300" b="0">
                <a:solidFill>
                  <a:srgbClr val="1E293B"/>
                </a:solidFill>
                <a:latin typeface="Calibri"/>
              </a:rPr>
              <a:t>Python — harness testowy</a:t>
            </a:r>
          </a:p>
        </p:txBody>
      </p:sp>
      <p:sp>
        <p:nvSpPr>
          <p:cNvPr id="19" name="TextBox 18"/>
          <p:cNvSpPr txBox="1"/>
          <p:nvPr/>
        </p:nvSpPr>
        <p:spPr>
          <a:xfrm>
            <a:off x="8595360" y="4754880"/>
            <a:ext cx="3200400" cy="365760"/>
          </a:xfrm>
          <a:prstGeom prst="rect">
            <a:avLst/>
          </a:prstGeom>
          <a:noFill/>
        </p:spPr>
        <p:txBody>
          <a:bodyPr wrap="square" lIns="0" tIns="0" rIns="0" bIns="0" anchor="t">
            <a:spAutoFit/>
          </a:bodyPr>
          <a:lstStyle/>
          <a:p>
            <a:pPr algn="l"/>
            <a:r>
              <a:rPr sz="1200" b="1">
                <a:solidFill>
                  <a:srgbClr val="0D9488"/>
                </a:solidFill>
                <a:latin typeface="Calibri"/>
              </a:rPr>
              <a:t>PRZEŁĄCZANIE MODELI</a:t>
            </a:r>
          </a:p>
        </p:txBody>
      </p:sp>
      <p:sp>
        <p:nvSpPr>
          <p:cNvPr id="20" name="TextBox 19"/>
          <p:cNvSpPr txBox="1"/>
          <p:nvPr/>
        </p:nvSpPr>
        <p:spPr>
          <a:xfrm>
            <a:off x="8595360" y="5074920"/>
            <a:ext cx="3200400" cy="1371600"/>
          </a:xfrm>
          <a:prstGeom prst="rect">
            <a:avLst/>
          </a:prstGeom>
          <a:noFill/>
        </p:spPr>
        <p:txBody>
          <a:bodyPr wrap="square" lIns="0" tIns="0" rIns="0" bIns="0" anchor="t">
            <a:spAutoFit/>
          </a:bodyPr>
          <a:lstStyle/>
          <a:p>
            <a:pPr algn="l"/>
            <a:r>
              <a:rPr sz="1300" b="0">
                <a:solidFill>
                  <a:srgbClr val="1E293B"/>
                </a:solidFill>
                <a:latin typeface="Calibri"/>
              </a:rPr>
              <a:t>Profile Spring + @Primary —
zero zmian w kodzie
między modelami.</a:t>
            </a:r>
          </a:p>
        </p:txBody>
      </p:sp>
      <p:sp>
        <p:nvSpPr>
          <p:cNvPr id="21" name="TextBox 20"/>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22" name="TextBox 21"/>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3 / 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4 · DANE</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Test set: 40 przypadków, 5 klas, ręcznie</a:t>
            </a:r>
          </a:p>
        </p:txBody>
      </p:sp>
      <p:sp>
        <p:nvSpPr>
          <p:cNvPr id="5" name="Rectangle 4"/>
          <p:cNvSpPr/>
          <p:nvPr/>
        </p:nvSpPr>
        <p:spPr>
          <a:xfrm>
            <a:off x="548640" y="182880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28800"/>
            <a:ext cx="210312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83664"/>
            <a:ext cx="2103120" cy="365760"/>
          </a:xfrm>
          <a:prstGeom prst="rect">
            <a:avLst/>
          </a:prstGeom>
          <a:noFill/>
        </p:spPr>
        <p:txBody>
          <a:bodyPr wrap="square" lIns="0" tIns="0" rIns="0" bIns="0" anchor="t">
            <a:spAutoFit/>
          </a:bodyPr>
          <a:lstStyle/>
          <a:p>
            <a:pPr algn="ctr"/>
            <a:r>
              <a:rPr sz="1500" b="1">
                <a:solidFill>
                  <a:srgbClr val="FFFFFF"/>
                </a:solidFill>
                <a:latin typeface="Calibri"/>
              </a:rPr>
              <a:t>correct</a:t>
            </a:r>
          </a:p>
        </p:txBody>
      </p:sp>
      <p:sp>
        <p:nvSpPr>
          <p:cNvPr id="8" name="TextBox 7"/>
          <p:cNvSpPr txBox="1"/>
          <p:nvPr/>
        </p:nvSpPr>
        <p:spPr>
          <a:xfrm>
            <a:off x="548640" y="2423160"/>
            <a:ext cx="2103120" cy="457200"/>
          </a:xfrm>
          <a:prstGeom prst="rect">
            <a:avLst/>
          </a:prstGeom>
          <a:noFill/>
        </p:spPr>
        <p:txBody>
          <a:bodyPr wrap="square" lIns="0" tIns="0" rIns="0" bIns="0" anchor="t">
            <a:spAutoFit/>
          </a:bodyPr>
          <a:lstStyle/>
          <a:p>
            <a:pPr algn="ctr"/>
            <a:r>
              <a:rPr sz="2400" b="1">
                <a:solidFill>
                  <a:srgbClr val="0F172A"/>
                </a:solidFill>
                <a:latin typeface="Calibri"/>
              </a:rPr>
              <a:t>8 szt.</a:t>
            </a:r>
          </a:p>
        </p:txBody>
      </p:sp>
      <p:sp>
        <p:nvSpPr>
          <p:cNvPr id="9" name="TextBox 8"/>
          <p:cNvSpPr txBox="1"/>
          <p:nvPr/>
        </p:nvSpPr>
        <p:spPr>
          <a:xfrm>
            <a:off x="548640" y="3108960"/>
            <a:ext cx="2103120" cy="1371600"/>
          </a:xfrm>
          <a:prstGeom prst="rect">
            <a:avLst/>
          </a:prstGeom>
          <a:noFill/>
        </p:spPr>
        <p:txBody>
          <a:bodyPr wrap="square" lIns="0" tIns="0" rIns="0" bIns="0" anchor="t">
            <a:spAutoFit/>
          </a:bodyPr>
          <a:lstStyle/>
          <a:p>
            <a:pPr algn="ctr"/>
            <a:r>
              <a:rPr sz="1200" b="0">
                <a:solidFill>
                  <a:srgbClr val="1E293B"/>
                </a:solidFill>
                <a:latin typeface="Calibri"/>
              </a:rPr>
              <a:t>Pełna, precyzyjna
odpowiedź</a:t>
            </a:r>
          </a:p>
        </p:txBody>
      </p:sp>
      <p:sp>
        <p:nvSpPr>
          <p:cNvPr id="10" name="Rectangle 9"/>
          <p:cNvSpPr/>
          <p:nvPr/>
        </p:nvSpPr>
        <p:spPr>
          <a:xfrm>
            <a:off x="2816352" y="182880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16352" y="1828800"/>
            <a:ext cx="210312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16352" y="1883664"/>
            <a:ext cx="2103120" cy="365760"/>
          </a:xfrm>
          <a:prstGeom prst="rect">
            <a:avLst/>
          </a:prstGeom>
          <a:noFill/>
        </p:spPr>
        <p:txBody>
          <a:bodyPr wrap="square" lIns="0" tIns="0" rIns="0" bIns="0" anchor="t">
            <a:spAutoFit/>
          </a:bodyPr>
          <a:lstStyle/>
          <a:p>
            <a:pPr algn="ctr"/>
            <a:r>
              <a:rPr sz="1500" b="1">
                <a:solidFill>
                  <a:srgbClr val="FFFFFF"/>
                </a:solidFill>
                <a:latin typeface="Calibri"/>
              </a:rPr>
              <a:t>partial</a:t>
            </a:r>
          </a:p>
        </p:txBody>
      </p:sp>
      <p:sp>
        <p:nvSpPr>
          <p:cNvPr id="13" name="TextBox 12"/>
          <p:cNvSpPr txBox="1"/>
          <p:nvPr/>
        </p:nvSpPr>
        <p:spPr>
          <a:xfrm>
            <a:off x="2816352" y="2423160"/>
            <a:ext cx="2103120" cy="457200"/>
          </a:xfrm>
          <a:prstGeom prst="rect">
            <a:avLst/>
          </a:prstGeom>
          <a:noFill/>
        </p:spPr>
        <p:txBody>
          <a:bodyPr wrap="square" lIns="0" tIns="0" rIns="0" bIns="0" anchor="t">
            <a:spAutoFit/>
          </a:bodyPr>
          <a:lstStyle/>
          <a:p>
            <a:pPr algn="ctr"/>
            <a:r>
              <a:rPr sz="2400" b="1">
                <a:solidFill>
                  <a:srgbClr val="0F172A"/>
                </a:solidFill>
                <a:latin typeface="Calibri"/>
              </a:rPr>
              <a:t>8 szt.</a:t>
            </a:r>
          </a:p>
        </p:txBody>
      </p:sp>
      <p:sp>
        <p:nvSpPr>
          <p:cNvPr id="14" name="TextBox 13"/>
          <p:cNvSpPr txBox="1"/>
          <p:nvPr/>
        </p:nvSpPr>
        <p:spPr>
          <a:xfrm>
            <a:off x="2816352" y="3108960"/>
            <a:ext cx="2103120" cy="1371600"/>
          </a:xfrm>
          <a:prstGeom prst="rect">
            <a:avLst/>
          </a:prstGeom>
          <a:noFill/>
        </p:spPr>
        <p:txBody>
          <a:bodyPr wrap="square" lIns="0" tIns="0" rIns="0" bIns="0" anchor="t">
            <a:spAutoFit/>
          </a:bodyPr>
          <a:lstStyle/>
          <a:p>
            <a:pPr algn="ctr"/>
            <a:r>
              <a:rPr sz="1200" b="0">
                <a:solidFill>
                  <a:srgbClr val="1E293B"/>
                </a:solidFill>
                <a:latin typeface="Calibri"/>
              </a:rPr>
              <a:t>Częściowo poprawna,
brakuje głębi</a:t>
            </a:r>
          </a:p>
        </p:txBody>
      </p:sp>
      <p:sp>
        <p:nvSpPr>
          <p:cNvPr id="15" name="Rectangle 14"/>
          <p:cNvSpPr/>
          <p:nvPr/>
        </p:nvSpPr>
        <p:spPr>
          <a:xfrm>
            <a:off x="5084064" y="182880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84064" y="1828800"/>
            <a:ext cx="210312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4064" y="1883664"/>
            <a:ext cx="2103120" cy="365760"/>
          </a:xfrm>
          <a:prstGeom prst="rect">
            <a:avLst/>
          </a:prstGeom>
          <a:noFill/>
        </p:spPr>
        <p:txBody>
          <a:bodyPr wrap="square" lIns="0" tIns="0" rIns="0" bIns="0" anchor="t">
            <a:spAutoFit/>
          </a:bodyPr>
          <a:lstStyle/>
          <a:p>
            <a:pPr algn="ctr"/>
            <a:r>
              <a:rPr sz="1500" b="1">
                <a:solidFill>
                  <a:srgbClr val="FFFFFF"/>
                </a:solidFill>
                <a:latin typeface="Calibri"/>
              </a:rPr>
              <a:t>wrong</a:t>
            </a:r>
          </a:p>
        </p:txBody>
      </p:sp>
      <p:sp>
        <p:nvSpPr>
          <p:cNvPr id="18" name="TextBox 17"/>
          <p:cNvSpPr txBox="1"/>
          <p:nvPr/>
        </p:nvSpPr>
        <p:spPr>
          <a:xfrm>
            <a:off x="5084064" y="2423160"/>
            <a:ext cx="2103120" cy="457200"/>
          </a:xfrm>
          <a:prstGeom prst="rect">
            <a:avLst/>
          </a:prstGeom>
          <a:noFill/>
        </p:spPr>
        <p:txBody>
          <a:bodyPr wrap="square" lIns="0" tIns="0" rIns="0" bIns="0" anchor="t">
            <a:spAutoFit/>
          </a:bodyPr>
          <a:lstStyle/>
          <a:p>
            <a:pPr algn="ctr"/>
            <a:r>
              <a:rPr sz="2400" b="1">
                <a:solidFill>
                  <a:srgbClr val="0F172A"/>
                </a:solidFill>
                <a:latin typeface="Calibri"/>
              </a:rPr>
              <a:t>8 szt.</a:t>
            </a:r>
          </a:p>
        </p:txBody>
      </p:sp>
      <p:sp>
        <p:nvSpPr>
          <p:cNvPr id="19" name="TextBox 18"/>
          <p:cNvSpPr txBox="1"/>
          <p:nvPr/>
        </p:nvSpPr>
        <p:spPr>
          <a:xfrm>
            <a:off x="5084064" y="3108960"/>
            <a:ext cx="2103120" cy="1371600"/>
          </a:xfrm>
          <a:prstGeom prst="rect">
            <a:avLst/>
          </a:prstGeom>
          <a:noFill/>
        </p:spPr>
        <p:txBody>
          <a:bodyPr wrap="square" lIns="0" tIns="0" rIns="0" bIns="0" anchor="t">
            <a:spAutoFit/>
          </a:bodyPr>
          <a:lstStyle/>
          <a:p>
            <a:pPr algn="ctr"/>
            <a:r>
              <a:rPr sz="1200" b="0">
                <a:solidFill>
                  <a:srgbClr val="1E293B"/>
                </a:solidFill>
                <a:latin typeface="Calibri"/>
              </a:rPr>
              <a:t>Zawiera błędy
merytoryczne</a:t>
            </a:r>
          </a:p>
        </p:txBody>
      </p:sp>
      <p:sp>
        <p:nvSpPr>
          <p:cNvPr id="20" name="TextBox 19"/>
          <p:cNvSpPr txBox="1"/>
          <p:nvPr/>
        </p:nvSpPr>
        <p:spPr>
          <a:xfrm>
            <a:off x="5084064" y="4434840"/>
            <a:ext cx="2103120" cy="365760"/>
          </a:xfrm>
          <a:prstGeom prst="rect">
            <a:avLst/>
          </a:prstGeom>
          <a:noFill/>
        </p:spPr>
        <p:txBody>
          <a:bodyPr wrap="square" lIns="0" tIns="0" rIns="0" bIns="0" anchor="t">
            <a:spAutoFit/>
          </a:bodyPr>
          <a:lstStyle/>
          <a:p>
            <a:pPr algn="ctr"/>
            <a:r>
              <a:rPr sz="1000" b="1">
                <a:solidFill>
                  <a:srgbClr val="EF4444"/>
                </a:solidFill>
                <a:latin typeface="Calibri"/>
              </a:rPr>
              <a:t>ADVERSARIAL</a:t>
            </a:r>
          </a:p>
        </p:txBody>
      </p:sp>
      <p:sp>
        <p:nvSpPr>
          <p:cNvPr id="21" name="Rectangle 20"/>
          <p:cNvSpPr/>
          <p:nvPr/>
        </p:nvSpPr>
        <p:spPr>
          <a:xfrm>
            <a:off x="7351776" y="182880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51776" y="1828800"/>
            <a:ext cx="210312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1776" y="1883664"/>
            <a:ext cx="2103120" cy="365760"/>
          </a:xfrm>
          <a:prstGeom prst="rect">
            <a:avLst/>
          </a:prstGeom>
          <a:noFill/>
        </p:spPr>
        <p:txBody>
          <a:bodyPr wrap="square" lIns="0" tIns="0" rIns="0" bIns="0" anchor="t">
            <a:spAutoFit/>
          </a:bodyPr>
          <a:lstStyle/>
          <a:p>
            <a:pPr algn="ctr"/>
            <a:r>
              <a:rPr sz="1500" b="1">
                <a:solidFill>
                  <a:srgbClr val="FFFFFF"/>
                </a:solidFill>
                <a:latin typeface="Calibri"/>
              </a:rPr>
              <a:t>waffle</a:t>
            </a:r>
          </a:p>
        </p:txBody>
      </p:sp>
      <p:sp>
        <p:nvSpPr>
          <p:cNvPr id="24" name="TextBox 23"/>
          <p:cNvSpPr txBox="1"/>
          <p:nvPr/>
        </p:nvSpPr>
        <p:spPr>
          <a:xfrm>
            <a:off x="7351776" y="2423160"/>
            <a:ext cx="2103120" cy="457200"/>
          </a:xfrm>
          <a:prstGeom prst="rect">
            <a:avLst/>
          </a:prstGeom>
          <a:noFill/>
        </p:spPr>
        <p:txBody>
          <a:bodyPr wrap="square" lIns="0" tIns="0" rIns="0" bIns="0" anchor="t">
            <a:spAutoFit/>
          </a:bodyPr>
          <a:lstStyle/>
          <a:p>
            <a:pPr algn="ctr"/>
            <a:r>
              <a:rPr sz="2400" b="1">
                <a:solidFill>
                  <a:srgbClr val="0F172A"/>
                </a:solidFill>
                <a:latin typeface="Calibri"/>
              </a:rPr>
              <a:t>8 szt.</a:t>
            </a:r>
          </a:p>
        </p:txBody>
      </p:sp>
      <p:sp>
        <p:nvSpPr>
          <p:cNvPr id="25" name="TextBox 24"/>
          <p:cNvSpPr txBox="1"/>
          <p:nvPr/>
        </p:nvSpPr>
        <p:spPr>
          <a:xfrm>
            <a:off x="7351776" y="3108960"/>
            <a:ext cx="2103120" cy="1371600"/>
          </a:xfrm>
          <a:prstGeom prst="rect">
            <a:avLst/>
          </a:prstGeom>
          <a:noFill/>
        </p:spPr>
        <p:txBody>
          <a:bodyPr wrap="square" lIns="0" tIns="0" rIns="0" bIns="0" anchor="t">
            <a:spAutoFit/>
          </a:bodyPr>
          <a:lstStyle/>
          <a:p>
            <a:pPr algn="ctr"/>
            <a:r>
              <a:rPr sz="1200" b="0">
                <a:solidFill>
                  <a:srgbClr val="1E293B"/>
                </a:solidFill>
                <a:latin typeface="Calibri"/>
              </a:rPr>
              <a:t>Brzmi mądrze,
ale jest pusta</a:t>
            </a:r>
          </a:p>
        </p:txBody>
      </p:sp>
      <p:sp>
        <p:nvSpPr>
          <p:cNvPr id="26" name="TextBox 25"/>
          <p:cNvSpPr txBox="1"/>
          <p:nvPr/>
        </p:nvSpPr>
        <p:spPr>
          <a:xfrm>
            <a:off x="7351776" y="4434840"/>
            <a:ext cx="2103120" cy="365760"/>
          </a:xfrm>
          <a:prstGeom prst="rect">
            <a:avLst/>
          </a:prstGeom>
          <a:noFill/>
        </p:spPr>
        <p:txBody>
          <a:bodyPr wrap="square" lIns="0" tIns="0" rIns="0" bIns="0" anchor="t">
            <a:spAutoFit/>
          </a:bodyPr>
          <a:lstStyle/>
          <a:p>
            <a:pPr algn="ctr"/>
            <a:r>
              <a:rPr sz="1000" b="1">
                <a:solidFill>
                  <a:srgbClr val="EF4444"/>
                </a:solidFill>
                <a:latin typeface="Calibri"/>
              </a:rPr>
              <a:t>ADVERSARIAL</a:t>
            </a:r>
          </a:p>
        </p:txBody>
      </p:sp>
      <p:sp>
        <p:nvSpPr>
          <p:cNvPr id="27" name="Rectangle 26"/>
          <p:cNvSpPr/>
          <p:nvPr/>
        </p:nvSpPr>
        <p:spPr>
          <a:xfrm>
            <a:off x="9619488" y="182880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619488" y="1828800"/>
            <a:ext cx="210312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19488" y="1883664"/>
            <a:ext cx="2103120" cy="365760"/>
          </a:xfrm>
          <a:prstGeom prst="rect">
            <a:avLst/>
          </a:prstGeom>
          <a:noFill/>
        </p:spPr>
        <p:txBody>
          <a:bodyPr wrap="square" lIns="0" tIns="0" rIns="0" bIns="0" anchor="t">
            <a:spAutoFit/>
          </a:bodyPr>
          <a:lstStyle/>
          <a:p>
            <a:pPr algn="ctr"/>
            <a:r>
              <a:rPr sz="1500" b="1">
                <a:solidFill>
                  <a:srgbClr val="FFFFFF"/>
                </a:solidFill>
                <a:latin typeface="Calibri"/>
              </a:rPr>
              <a:t>evasive</a:t>
            </a:r>
          </a:p>
        </p:txBody>
      </p:sp>
      <p:sp>
        <p:nvSpPr>
          <p:cNvPr id="30" name="TextBox 29"/>
          <p:cNvSpPr txBox="1"/>
          <p:nvPr/>
        </p:nvSpPr>
        <p:spPr>
          <a:xfrm>
            <a:off x="9619488" y="2423160"/>
            <a:ext cx="2103120" cy="457200"/>
          </a:xfrm>
          <a:prstGeom prst="rect">
            <a:avLst/>
          </a:prstGeom>
          <a:noFill/>
        </p:spPr>
        <p:txBody>
          <a:bodyPr wrap="square" lIns="0" tIns="0" rIns="0" bIns="0" anchor="t">
            <a:spAutoFit/>
          </a:bodyPr>
          <a:lstStyle/>
          <a:p>
            <a:pPr algn="ctr"/>
            <a:r>
              <a:rPr sz="2400" b="1">
                <a:solidFill>
                  <a:srgbClr val="0F172A"/>
                </a:solidFill>
                <a:latin typeface="Calibri"/>
              </a:rPr>
              <a:t>8 szt.</a:t>
            </a:r>
          </a:p>
        </p:txBody>
      </p:sp>
      <p:sp>
        <p:nvSpPr>
          <p:cNvPr id="31" name="TextBox 30"/>
          <p:cNvSpPr txBox="1"/>
          <p:nvPr/>
        </p:nvSpPr>
        <p:spPr>
          <a:xfrm>
            <a:off x="9619488" y="3108960"/>
            <a:ext cx="2103120" cy="1371600"/>
          </a:xfrm>
          <a:prstGeom prst="rect">
            <a:avLst/>
          </a:prstGeom>
          <a:noFill/>
        </p:spPr>
        <p:txBody>
          <a:bodyPr wrap="square" lIns="0" tIns="0" rIns="0" bIns="0" anchor="t">
            <a:spAutoFit/>
          </a:bodyPr>
          <a:lstStyle/>
          <a:p>
            <a:pPr algn="ctr"/>
            <a:r>
              <a:rPr sz="1200" b="0">
                <a:solidFill>
                  <a:srgbClr val="1E293B"/>
                </a:solidFill>
                <a:latin typeface="Calibri"/>
              </a:rPr>
              <a:t>Kandydat przyznaje
się do niewiedzy</a:t>
            </a:r>
          </a:p>
        </p:txBody>
      </p:sp>
      <p:sp>
        <p:nvSpPr>
          <p:cNvPr id="32" name="TextBox 31"/>
          <p:cNvSpPr txBox="1"/>
          <p:nvPr/>
        </p:nvSpPr>
        <p:spPr>
          <a:xfrm>
            <a:off x="9619488" y="4434840"/>
            <a:ext cx="2103120" cy="365760"/>
          </a:xfrm>
          <a:prstGeom prst="rect">
            <a:avLst/>
          </a:prstGeom>
          <a:noFill/>
        </p:spPr>
        <p:txBody>
          <a:bodyPr wrap="square" lIns="0" tIns="0" rIns="0" bIns="0" anchor="t">
            <a:spAutoFit/>
          </a:bodyPr>
          <a:lstStyle/>
          <a:p>
            <a:pPr algn="ctr"/>
            <a:r>
              <a:rPr sz="1000" b="1">
                <a:solidFill>
                  <a:srgbClr val="EF4444"/>
                </a:solidFill>
                <a:latin typeface="Calibri"/>
              </a:rPr>
              <a:t>ADVERSARIAL</a:t>
            </a:r>
          </a:p>
        </p:txBody>
      </p:sp>
      <p:sp>
        <p:nvSpPr>
          <p:cNvPr id="33" name="Rectangle 32"/>
          <p:cNvSpPr/>
          <p:nvPr/>
        </p:nvSpPr>
        <p:spPr>
          <a:xfrm>
            <a:off x="548640" y="5212080"/>
            <a:ext cx="11091672"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 y="5349240"/>
            <a:ext cx="10058400" cy="365760"/>
          </a:xfrm>
          <a:prstGeom prst="rect">
            <a:avLst/>
          </a:prstGeom>
          <a:noFill/>
        </p:spPr>
        <p:txBody>
          <a:bodyPr wrap="square" lIns="0" tIns="0" rIns="0" bIns="0" anchor="t">
            <a:spAutoFit/>
          </a:bodyPr>
          <a:lstStyle/>
          <a:p>
            <a:pPr algn="l"/>
            <a:r>
              <a:rPr sz="1200" b="1">
                <a:solidFill>
                  <a:srgbClr val="0D9488"/>
                </a:solidFill>
                <a:latin typeface="Calibri"/>
              </a:rPr>
              <a:t>ŁĄCZNIE 40 PAR Q&amp;A · TEMATYKA: CORE JAVA + OOP · 50 PAR Q&amp;A W BAZIE WIEDZY (7 TEMATÓW)</a:t>
            </a:r>
          </a:p>
        </p:txBody>
      </p:sp>
      <p:sp>
        <p:nvSpPr>
          <p:cNvPr id="35" name="TextBox 34"/>
          <p:cNvSpPr txBox="1"/>
          <p:nvPr/>
        </p:nvSpPr>
        <p:spPr>
          <a:xfrm>
            <a:off x="822960" y="5623560"/>
            <a:ext cx="10058400" cy="411480"/>
          </a:xfrm>
          <a:prstGeom prst="rect">
            <a:avLst/>
          </a:prstGeom>
          <a:noFill/>
        </p:spPr>
        <p:txBody>
          <a:bodyPr wrap="square" lIns="0" tIns="0" rIns="0" bIns="0" anchor="t">
            <a:spAutoFit/>
          </a:bodyPr>
          <a:lstStyle/>
          <a:p>
            <a:pPr algn="l"/>
            <a:r>
              <a:rPr sz="1300" b="0">
                <a:solidFill>
                  <a:srgbClr val="F8FAFC"/>
                </a:solidFill>
                <a:latin typeface="Calibri"/>
              </a:rPr>
              <a:t>3 z 5 klas to grupa adversarialna — odpowiedzi, które NIE zasługują na pozytywną ocenę, ale mogą zmylić model.</a:t>
            </a:r>
          </a:p>
        </p:txBody>
      </p:sp>
      <p:sp>
        <p:nvSpPr>
          <p:cNvPr id="36" name="TextBox 35"/>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37" name="TextBox 36"/>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4 / 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5 · WYNIKI</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Accuracy: 3 modele × 2 tryby × 2 runy</a:t>
            </a:r>
          </a:p>
        </p:txBody>
      </p:sp>
      <p:sp>
        <p:nvSpPr>
          <p:cNvPr id="5" name="Rectangle 4"/>
          <p:cNvSpPr/>
          <p:nvPr/>
        </p:nvSpPr>
        <p:spPr>
          <a:xfrm>
            <a:off x="731520" y="1691640"/>
            <a:ext cx="1097280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83080"/>
            <a:ext cx="2926080" cy="365760"/>
          </a:xfrm>
          <a:prstGeom prst="rect">
            <a:avLst/>
          </a:prstGeom>
          <a:noFill/>
        </p:spPr>
        <p:txBody>
          <a:bodyPr wrap="square" lIns="0" tIns="0" rIns="0" bIns="0" anchor="t">
            <a:spAutoFit/>
          </a:bodyPr>
          <a:lstStyle/>
          <a:p>
            <a:pPr algn="ctr"/>
            <a:r>
              <a:rPr sz="1400" b="1">
                <a:solidFill>
                  <a:srgbClr val="FFFFFF"/>
                </a:solidFill>
                <a:latin typeface="Calibri"/>
              </a:rPr>
              <a:t>Model</a:t>
            </a:r>
          </a:p>
        </p:txBody>
      </p:sp>
      <p:sp>
        <p:nvSpPr>
          <p:cNvPr id="7" name="TextBox 6"/>
          <p:cNvSpPr txBox="1"/>
          <p:nvPr/>
        </p:nvSpPr>
        <p:spPr>
          <a:xfrm>
            <a:off x="3657600" y="1783080"/>
            <a:ext cx="2011680" cy="365760"/>
          </a:xfrm>
          <a:prstGeom prst="rect">
            <a:avLst/>
          </a:prstGeom>
          <a:noFill/>
        </p:spPr>
        <p:txBody>
          <a:bodyPr wrap="square" lIns="0" tIns="0" rIns="0" bIns="0" anchor="t">
            <a:spAutoFit/>
          </a:bodyPr>
          <a:lstStyle/>
          <a:p>
            <a:pPr algn="ctr"/>
            <a:r>
              <a:rPr sz="1400" b="1">
                <a:solidFill>
                  <a:srgbClr val="FFFFFF"/>
                </a:solidFill>
                <a:latin typeface="Calibri"/>
              </a:rPr>
              <a:t>RAG · Run 1</a:t>
            </a:r>
          </a:p>
        </p:txBody>
      </p:sp>
      <p:sp>
        <p:nvSpPr>
          <p:cNvPr id="8" name="TextBox 7"/>
          <p:cNvSpPr txBox="1"/>
          <p:nvPr/>
        </p:nvSpPr>
        <p:spPr>
          <a:xfrm>
            <a:off x="5669280" y="1783080"/>
            <a:ext cx="2011680" cy="365760"/>
          </a:xfrm>
          <a:prstGeom prst="rect">
            <a:avLst/>
          </a:prstGeom>
          <a:noFill/>
        </p:spPr>
        <p:txBody>
          <a:bodyPr wrap="square" lIns="0" tIns="0" rIns="0" bIns="0" anchor="t">
            <a:spAutoFit/>
          </a:bodyPr>
          <a:lstStyle/>
          <a:p>
            <a:pPr algn="ctr"/>
            <a:r>
              <a:rPr sz="1400" b="1">
                <a:solidFill>
                  <a:srgbClr val="FFFFFF"/>
                </a:solidFill>
                <a:latin typeface="Calibri"/>
              </a:rPr>
              <a:t>RAG · Run 2</a:t>
            </a:r>
          </a:p>
        </p:txBody>
      </p:sp>
      <p:sp>
        <p:nvSpPr>
          <p:cNvPr id="9" name="TextBox 8"/>
          <p:cNvSpPr txBox="1"/>
          <p:nvPr/>
        </p:nvSpPr>
        <p:spPr>
          <a:xfrm>
            <a:off x="7680960" y="1783080"/>
            <a:ext cx="2011680" cy="365760"/>
          </a:xfrm>
          <a:prstGeom prst="rect">
            <a:avLst/>
          </a:prstGeom>
          <a:noFill/>
        </p:spPr>
        <p:txBody>
          <a:bodyPr wrap="square" lIns="0" tIns="0" rIns="0" bIns="0" anchor="t">
            <a:spAutoFit/>
          </a:bodyPr>
          <a:lstStyle/>
          <a:p>
            <a:pPr algn="ctr"/>
            <a:r>
              <a:rPr sz="1400" b="1">
                <a:solidFill>
                  <a:srgbClr val="FFFFFF"/>
                </a:solidFill>
                <a:latin typeface="Calibri"/>
              </a:rPr>
              <a:t>Pure · Run 1</a:t>
            </a:r>
          </a:p>
        </p:txBody>
      </p:sp>
      <p:sp>
        <p:nvSpPr>
          <p:cNvPr id="10" name="TextBox 9"/>
          <p:cNvSpPr txBox="1"/>
          <p:nvPr/>
        </p:nvSpPr>
        <p:spPr>
          <a:xfrm>
            <a:off x="9692640" y="1783080"/>
            <a:ext cx="2011680" cy="365760"/>
          </a:xfrm>
          <a:prstGeom prst="rect">
            <a:avLst/>
          </a:prstGeom>
          <a:noFill/>
        </p:spPr>
        <p:txBody>
          <a:bodyPr wrap="square" lIns="0" tIns="0" rIns="0" bIns="0" anchor="t">
            <a:spAutoFit/>
          </a:bodyPr>
          <a:lstStyle/>
          <a:p>
            <a:pPr algn="ctr"/>
            <a:r>
              <a:rPr sz="1400" b="1">
                <a:solidFill>
                  <a:srgbClr val="FFFFFF"/>
                </a:solidFill>
                <a:latin typeface="Calibri"/>
              </a:rPr>
              <a:t>Pure · Run 2</a:t>
            </a:r>
          </a:p>
        </p:txBody>
      </p:sp>
      <p:sp>
        <p:nvSpPr>
          <p:cNvPr id="11" name="Rectangle 10"/>
          <p:cNvSpPr/>
          <p:nvPr/>
        </p:nvSpPr>
        <p:spPr>
          <a:xfrm>
            <a:off x="731520" y="2194560"/>
            <a:ext cx="109728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304288"/>
            <a:ext cx="2926080" cy="365760"/>
          </a:xfrm>
          <a:prstGeom prst="rect">
            <a:avLst/>
          </a:prstGeom>
          <a:noFill/>
        </p:spPr>
        <p:txBody>
          <a:bodyPr wrap="square" lIns="0" tIns="0" rIns="0" bIns="0" anchor="t">
            <a:spAutoFit/>
          </a:bodyPr>
          <a:lstStyle/>
          <a:p>
            <a:pPr algn="l"/>
            <a:r>
              <a:rPr sz="1400" b="1">
                <a:solidFill>
                  <a:srgbClr val="0F172A"/>
                </a:solidFill>
                <a:latin typeface="Calibri"/>
              </a:rPr>
              <a:t>llama3.1:8b</a:t>
            </a:r>
          </a:p>
        </p:txBody>
      </p:sp>
      <p:sp>
        <p:nvSpPr>
          <p:cNvPr id="13" name="TextBox 12"/>
          <p:cNvSpPr txBox="1"/>
          <p:nvPr/>
        </p:nvSpPr>
        <p:spPr>
          <a:xfrm>
            <a:off x="3657600" y="2304288"/>
            <a:ext cx="2011680" cy="365760"/>
          </a:xfrm>
          <a:prstGeom prst="rect">
            <a:avLst/>
          </a:prstGeom>
          <a:noFill/>
        </p:spPr>
        <p:txBody>
          <a:bodyPr wrap="square" lIns="0" tIns="0" rIns="0" bIns="0" anchor="t">
            <a:spAutoFit/>
          </a:bodyPr>
          <a:lstStyle/>
          <a:p>
            <a:pPr algn="ctr"/>
            <a:r>
              <a:rPr sz="1500" b="0">
                <a:solidFill>
                  <a:srgbClr val="1E293B"/>
                </a:solidFill>
                <a:latin typeface="Calibri"/>
              </a:rPr>
              <a:t>50,0%</a:t>
            </a:r>
          </a:p>
        </p:txBody>
      </p:sp>
      <p:sp>
        <p:nvSpPr>
          <p:cNvPr id="14" name="TextBox 13"/>
          <p:cNvSpPr txBox="1"/>
          <p:nvPr/>
        </p:nvSpPr>
        <p:spPr>
          <a:xfrm>
            <a:off x="5669280" y="2304288"/>
            <a:ext cx="2011680" cy="365760"/>
          </a:xfrm>
          <a:prstGeom prst="rect">
            <a:avLst/>
          </a:prstGeom>
          <a:noFill/>
        </p:spPr>
        <p:txBody>
          <a:bodyPr wrap="square" lIns="0" tIns="0" rIns="0" bIns="0" anchor="t">
            <a:spAutoFit/>
          </a:bodyPr>
          <a:lstStyle/>
          <a:p>
            <a:pPr algn="ctr"/>
            <a:r>
              <a:rPr sz="1500" b="0">
                <a:solidFill>
                  <a:srgbClr val="1E293B"/>
                </a:solidFill>
                <a:latin typeface="Calibri"/>
              </a:rPr>
              <a:t>50,0%</a:t>
            </a:r>
          </a:p>
        </p:txBody>
      </p:sp>
      <p:sp>
        <p:nvSpPr>
          <p:cNvPr id="15" name="TextBox 14"/>
          <p:cNvSpPr txBox="1"/>
          <p:nvPr/>
        </p:nvSpPr>
        <p:spPr>
          <a:xfrm>
            <a:off x="7680960" y="2304288"/>
            <a:ext cx="2011680" cy="365760"/>
          </a:xfrm>
          <a:prstGeom prst="rect">
            <a:avLst/>
          </a:prstGeom>
          <a:noFill/>
        </p:spPr>
        <p:txBody>
          <a:bodyPr wrap="square" lIns="0" tIns="0" rIns="0" bIns="0" anchor="t">
            <a:spAutoFit/>
          </a:bodyPr>
          <a:lstStyle/>
          <a:p>
            <a:pPr algn="ctr"/>
            <a:r>
              <a:rPr sz="1500" b="0">
                <a:solidFill>
                  <a:srgbClr val="1E293B"/>
                </a:solidFill>
                <a:latin typeface="Calibri"/>
              </a:rPr>
              <a:t>57,5%</a:t>
            </a:r>
          </a:p>
        </p:txBody>
      </p:sp>
      <p:sp>
        <p:nvSpPr>
          <p:cNvPr id="16" name="TextBox 15"/>
          <p:cNvSpPr txBox="1"/>
          <p:nvPr/>
        </p:nvSpPr>
        <p:spPr>
          <a:xfrm>
            <a:off x="9692640" y="2304288"/>
            <a:ext cx="2011680" cy="365760"/>
          </a:xfrm>
          <a:prstGeom prst="rect">
            <a:avLst/>
          </a:prstGeom>
          <a:noFill/>
        </p:spPr>
        <p:txBody>
          <a:bodyPr wrap="square" lIns="0" tIns="0" rIns="0" bIns="0" anchor="t">
            <a:spAutoFit/>
          </a:bodyPr>
          <a:lstStyle/>
          <a:p>
            <a:pPr algn="ctr"/>
            <a:r>
              <a:rPr sz="1500" b="0">
                <a:solidFill>
                  <a:srgbClr val="1E293B"/>
                </a:solidFill>
                <a:latin typeface="Calibri"/>
              </a:rPr>
              <a:t>57,5%</a:t>
            </a:r>
          </a:p>
        </p:txBody>
      </p:sp>
      <p:sp>
        <p:nvSpPr>
          <p:cNvPr id="17" name="Rectangle 16"/>
          <p:cNvSpPr/>
          <p:nvPr/>
        </p:nvSpPr>
        <p:spPr>
          <a:xfrm>
            <a:off x="731520" y="2697480"/>
            <a:ext cx="10972800" cy="502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2807208"/>
            <a:ext cx="2926080" cy="365760"/>
          </a:xfrm>
          <a:prstGeom prst="rect">
            <a:avLst/>
          </a:prstGeom>
          <a:noFill/>
        </p:spPr>
        <p:txBody>
          <a:bodyPr wrap="square" lIns="0" tIns="0" rIns="0" bIns="0" anchor="t">
            <a:spAutoFit/>
          </a:bodyPr>
          <a:lstStyle/>
          <a:p>
            <a:pPr algn="l"/>
            <a:r>
              <a:rPr sz="1400" b="1">
                <a:solidFill>
                  <a:srgbClr val="0F172A"/>
                </a:solidFill>
                <a:latin typeface="Calibri"/>
              </a:rPr>
              <a:t>gemini-2.5-flash</a:t>
            </a:r>
          </a:p>
        </p:txBody>
      </p:sp>
      <p:sp>
        <p:nvSpPr>
          <p:cNvPr id="19" name="TextBox 18"/>
          <p:cNvSpPr txBox="1"/>
          <p:nvPr/>
        </p:nvSpPr>
        <p:spPr>
          <a:xfrm>
            <a:off x="3657600" y="2807208"/>
            <a:ext cx="2011680" cy="365760"/>
          </a:xfrm>
          <a:prstGeom prst="rect">
            <a:avLst/>
          </a:prstGeom>
          <a:noFill/>
        </p:spPr>
        <p:txBody>
          <a:bodyPr wrap="square" lIns="0" tIns="0" rIns="0" bIns="0" anchor="t">
            <a:spAutoFit/>
          </a:bodyPr>
          <a:lstStyle/>
          <a:p>
            <a:pPr algn="ctr"/>
            <a:r>
              <a:rPr sz="1500" b="0">
                <a:solidFill>
                  <a:srgbClr val="1E293B"/>
                </a:solidFill>
                <a:latin typeface="Calibri"/>
              </a:rPr>
              <a:t>80,0%</a:t>
            </a:r>
          </a:p>
        </p:txBody>
      </p:sp>
      <p:sp>
        <p:nvSpPr>
          <p:cNvPr id="20" name="TextBox 19"/>
          <p:cNvSpPr txBox="1"/>
          <p:nvPr/>
        </p:nvSpPr>
        <p:spPr>
          <a:xfrm>
            <a:off x="5669280" y="2807208"/>
            <a:ext cx="2011680" cy="365760"/>
          </a:xfrm>
          <a:prstGeom prst="rect">
            <a:avLst/>
          </a:prstGeom>
          <a:noFill/>
        </p:spPr>
        <p:txBody>
          <a:bodyPr wrap="square" lIns="0" tIns="0" rIns="0" bIns="0" anchor="t">
            <a:spAutoFit/>
          </a:bodyPr>
          <a:lstStyle/>
          <a:p>
            <a:pPr algn="ctr"/>
            <a:r>
              <a:rPr sz="1500" b="0">
                <a:solidFill>
                  <a:srgbClr val="1E293B"/>
                </a:solidFill>
                <a:latin typeface="Calibri"/>
              </a:rPr>
              <a:t>80,0%</a:t>
            </a:r>
          </a:p>
        </p:txBody>
      </p:sp>
      <p:sp>
        <p:nvSpPr>
          <p:cNvPr id="21" name="TextBox 20"/>
          <p:cNvSpPr txBox="1"/>
          <p:nvPr/>
        </p:nvSpPr>
        <p:spPr>
          <a:xfrm>
            <a:off x="7680960" y="2807208"/>
            <a:ext cx="2011680" cy="365760"/>
          </a:xfrm>
          <a:prstGeom prst="rect">
            <a:avLst/>
          </a:prstGeom>
          <a:noFill/>
        </p:spPr>
        <p:txBody>
          <a:bodyPr wrap="square" lIns="0" tIns="0" rIns="0" bIns="0" anchor="t">
            <a:spAutoFit/>
          </a:bodyPr>
          <a:lstStyle/>
          <a:p>
            <a:pPr algn="ctr"/>
            <a:r>
              <a:rPr sz="1500" b="0">
                <a:solidFill>
                  <a:srgbClr val="1E293B"/>
                </a:solidFill>
                <a:latin typeface="Calibri"/>
              </a:rPr>
              <a:t>87,5%</a:t>
            </a:r>
          </a:p>
        </p:txBody>
      </p:sp>
      <p:sp>
        <p:nvSpPr>
          <p:cNvPr id="22" name="TextBox 21"/>
          <p:cNvSpPr txBox="1"/>
          <p:nvPr/>
        </p:nvSpPr>
        <p:spPr>
          <a:xfrm>
            <a:off x="9692640" y="2807208"/>
            <a:ext cx="2011680" cy="365760"/>
          </a:xfrm>
          <a:prstGeom prst="rect">
            <a:avLst/>
          </a:prstGeom>
          <a:noFill/>
        </p:spPr>
        <p:txBody>
          <a:bodyPr wrap="square" lIns="0" tIns="0" rIns="0" bIns="0" anchor="t">
            <a:spAutoFit/>
          </a:bodyPr>
          <a:lstStyle/>
          <a:p>
            <a:pPr algn="ctr"/>
            <a:r>
              <a:rPr sz="1500" b="0">
                <a:solidFill>
                  <a:srgbClr val="1E293B"/>
                </a:solidFill>
                <a:latin typeface="Calibri"/>
              </a:rPr>
              <a:t>82,5%</a:t>
            </a:r>
          </a:p>
        </p:txBody>
      </p:sp>
      <p:sp>
        <p:nvSpPr>
          <p:cNvPr id="23" name="Rectangle 22"/>
          <p:cNvSpPr/>
          <p:nvPr/>
        </p:nvSpPr>
        <p:spPr>
          <a:xfrm>
            <a:off x="731520" y="3200400"/>
            <a:ext cx="109728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3310128"/>
            <a:ext cx="2926080" cy="365760"/>
          </a:xfrm>
          <a:prstGeom prst="rect">
            <a:avLst/>
          </a:prstGeom>
          <a:noFill/>
        </p:spPr>
        <p:txBody>
          <a:bodyPr wrap="square" lIns="0" tIns="0" rIns="0" bIns="0" anchor="t">
            <a:spAutoFit/>
          </a:bodyPr>
          <a:lstStyle/>
          <a:p>
            <a:pPr algn="l"/>
            <a:r>
              <a:rPr sz="1400" b="1">
                <a:solidFill>
                  <a:srgbClr val="0F172A"/>
                </a:solidFill>
                <a:latin typeface="Calibri"/>
              </a:rPr>
              <a:t>claude-sonnet-4-6</a:t>
            </a:r>
          </a:p>
        </p:txBody>
      </p:sp>
      <p:sp>
        <p:nvSpPr>
          <p:cNvPr id="25" name="TextBox 24"/>
          <p:cNvSpPr txBox="1"/>
          <p:nvPr/>
        </p:nvSpPr>
        <p:spPr>
          <a:xfrm>
            <a:off x="3657600" y="3310128"/>
            <a:ext cx="2011680" cy="365760"/>
          </a:xfrm>
          <a:prstGeom prst="rect">
            <a:avLst/>
          </a:prstGeom>
          <a:noFill/>
        </p:spPr>
        <p:txBody>
          <a:bodyPr wrap="square" lIns="0" tIns="0" rIns="0" bIns="0" anchor="t">
            <a:spAutoFit/>
          </a:bodyPr>
          <a:lstStyle/>
          <a:p>
            <a:pPr algn="ctr"/>
            <a:r>
              <a:rPr sz="1500" b="0">
                <a:solidFill>
                  <a:srgbClr val="1E293B"/>
                </a:solidFill>
                <a:latin typeface="Calibri"/>
              </a:rPr>
              <a:t>82,5%</a:t>
            </a:r>
          </a:p>
        </p:txBody>
      </p:sp>
      <p:sp>
        <p:nvSpPr>
          <p:cNvPr id="26" name="TextBox 25"/>
          <p:cNvSpPr txBox="1"/>
          <p:nvPr/>
        </p:nvSpPr>
        <p:spPr>
          <a:xfrm>
            <a:off x="5669280" y="3310128"/>
            <a:ext cx="2011680" cy="365760"/>
          </a:xfrm>
          <a:prstGeom prst="rect">
            <a:avLst/>
          </a:prstGeom>
          <a:noFill/>
        </p:spPr>
        <p:txBody>
          <a:bodyPr wrap="square" lIns="0" tIns="0" rIns="0" bIns="0" anchor="t">
            <a:spAutoFit/>
          </a:bodyPr>
          <a:lstStyle/>
          <a:p>
            <a:pPr algn="ctr"/>
            <a:r>
              <a:rPr sz="1500" b="0">
                <a:solidFill>
                  <a:srgbClr val="1E293B"/>
                </a:solidFill>
                <a:latin typeface="Calibri"/>
              </a:rPr>
              <a:t>82,5%</a:t>
            </a:r>
          </a:p>
        </p:txBody>
      </p:sp>
      <p:sp>
        <p:nvSpPr>
          <p:cNvPr id="27" name="TextBox 26"/>
          <p:cNvSpPr txBox="1"/>
          <p:nvPr/>
        </p:nvSpPr>
        <p:spPr>
          <a:xfrm>
            <a:off x="7680960" y="3310128"/>
            <a:ext cx="2011680" cy="365760"/>
          </a:xfrm>
          <a:prstGeom prst="rect">
            <a:avLst/>
          </a:prstGeom>
          <a:noFill/>
        </p:spPr>
        <p:txBody>
          <a:bodyPr wrap="square" lIns="0" tIns="0" rIns="0" bIns="0" anchor="t">
            <a:spAutoFit/>
          </a:bodyPr>
          <a:lstStyle/>
          <a:p>
            <a:pPr algn="ctr"/>
            <a:r>
              <a:rPr sz="1500" b="1">
                <a:solidFill>
                  <a:srgbClr val="EF4444"/>
                </a:solidFill>
                <a:latin typeface="Calibri"/>
              </a:rPr>
              <a:t>92,5%</a:t>
            </a:r>
          </a:p>
        </p:txBody>
      </p:sp>
      <p:sp>
        <p:nvSpPr>
          <p:cNvPr id="28" name="TextBox 27"/>
          <p:cNvSpPr txBox="1"/>
          <p:nvPr/>
        </p:nvSpPr>
        <p:spPr>
          <a:xfrm>
            <a:off x="9692640" y="3310128"/>
            <a:ext cx="2011680" cy="365760"/>
          </a:xfrm>
          <a:prstGeom prst="rect">
            <a:avLst/>
          </a:prstGeom>
          <a:noFill/>
        </p:spPr>
        <p:txBody>
          <a:bodyPr wrap="square" lIns="0" tIns="0" rIns="0" bIns="0" anchor="t">
            <a:spAutoFit/>
          </a:bodyPr>
          <a:lstStyle/>
          <a:p>
            <a:pPr algn="ctr"/>
            <a:r>
              <a:rPr sz="1500" b="1">
                <a:solidFill>
                  <a:srgbClr val="EF4444"/>
                </a:solidFill>
                <a:latin typeface="Calibri"/>
              </a:rPr>
              <a:t>92,5%</a:t>
            </a:r>
          </a:p>
        </p:txBody>
      </p:sp>
      <p:sp>
        <p:nvSpPr>
          <p:cNvPr id="29" name="Rectangle 28"/>
          <p:cNvSpPr/>
          <p:nvPr/>
        </p:nvSpPr>
        <p:spPr>
          <a:xfrm>
            <a:off x="731520" y="4069080"/>
            <a:ext cx="1097280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4069080"/>
            <a:ext cx="73152" cy="13716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4206240"/>
            <a:ext cx="10058400" cy="457200"/>
          </a:xfrm>
          <a:prstGeom prst="rect">
            <a:avLst/>
          </a:prstGeom>
          <a:noFill/>
        </p:spPr>
        <p:txBody>
          <a:bodyPr wrap="square" lIns="0" tIns="0" rIns="0" bIns="0" anchor="t">
            <a:spAutoFit/>
          </a:bodyPr>
          <a:lstStyle/>
          <a:p>
            <a:pPr algn="l"/>
            <a:r>
              <a:rPr sz="1200" b="1">
                <a:solidFill>
                  <a:srgbClr val="EF4444"/>
                </a:solidFill>
                <a:latin typeface="Calibri"/>
              </a:rPr>
              <a:t>GŁÓWNE OBSERWACJE</a:t>
            </a:r>
          </a:p>
        </p:txBody>
      </p:sp>
      <p:sp>
        <p:nvSpPr>
          <p:cNvPr id="32" name="TextBox 31"/>
          <p:cNvSpPr txBox="1"/>
          <p:nvPr/>
        </p:nvSpPr>
        <p:spPr>
          <a:xfrm>
            <a:off x="1005840" y="4572000"/>
            <a:ext cx="10058400" cy="914400"/>
          </a:xfrm>
          <a:prstGeom prst="rect">
            <a:avLst/>
          </a:prstGeom>
          <a:noFill/>
        </p:spPr>
        <p:txBody>
          <a:bodyPr wrap="square" lIns="0" tIns="0" rIns="0" bIns="0" anchor="t">
            <a:spAutoFit/>
          </a:bodyPr>
          <a:lstStyle/>
          <a:p>
            <a:pPr algn="l"/>
            <a:r>
              <a:rPr sz="1300" b="0">
                <a:solidFill>
                  <a:srgbClr val="1E293B"/>
                </a:solidFill>
                <a:latin typeface="Calibri"/>
              </a:rPr>
              <a:t>• Claude Sonnet 4.6 prowadzi we wszystkich konfiguracjach (do 92,5%)
• Llama3.1:8b wyraźnie odstaje — różnica z Claude do 35 punktów procentowych
• We wszystkich trzech modelach Pure Prompt &gt; RAG  ← o tym za chwilę</a:t>
            </a:r>
          </a:p>
        </p:txBody>
      </p:sp>
      <p:sp>
        <p:nvSpPr>
          <p:cNvPr id="33" name="TextBox 32"/>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34" name="TextBox 33"/>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5 / 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0972800" cy="365760"/>
          </a:xfrm>
          <a:prstGeom prst="rect">
            <a:avLst/>
          </a:prstGeom>
          <a:noFill/>
        </p:spPr>
        <p:txBody>
          <a:bodyPr wrap="square" lIns="0" tIns="0" rIns="0" bIns="0" anchor="t">
            <a:spAutoFit/>
          </a:bodyPr>
          <a:lstStyle/>
          <a:p>
            <a:pPr algn="l"/>
            <a:r>
              <a:rPr sz="1400" b="1">
                <a:solidFill>
                  <a:srgbClr val="EF4444"/>
                </a:solidFill>
                <a:latin typeface="Calibri"/>
              </a:rPr>
              <a:t>ODKRYCIE BADAWCZE</a:t>
            </a:r>
          </a:p>
        </p:txBody>
      </p:sp>
      <p:sp>
        <p:nvSpPr>
          <p:cNvPr id="4" name="TextBox 3"/>
          <p:cNvSpPr txBox="1"/>
          <p:nvPr/>
        </p:nvSpPr>
        <p:spPr>
          <a:xfrm>
            <a:off x="548640" y="685800"/>
            <a:ext cx="10972800" cy="914400"/>
          </a:xfrm>
          <a:prstGeom prst="rect">
            <a:avLst/>
          </a:prstGeom>
          <a:noFill/>
        </p:spPr>
        <p:txBody>
          <a:bodyPr wrap="square" lIns="0" tIns="0" rIns="0" bIns="0" anchor="t">
            <a:spAutoFit/>
          </a:bodyPr>
          <a:lstStyle/>
          <a:p>
            <a:pPr algn="l"/>
            <a:r>
              <a:rPr sz="3600" b="1">
                <a:solidFill>
                  <a:srgbClr val="FFFFFF"/>
                </a:solidFill>
                <a:latin typeface="Calibri"/>
              </a:rPr>
              <a:t>Pure Prompt &gt; RAG — dla każdego modelu</a:t>
            </a:r>
          </a:p>
        </p:txBody>
      </p:sp>
      <p:sp>
        <p:nvSpPr>
          <p:cNvPr id="5" name="Rectangle 4"/>
          <p:cNvSpPr/>
          <p:nvPr/>
        </p:nvSpPr>
        <p:spPr>
          <a:xfrm>
            <a:off x="609447" y="2103120"/>
            <a:ext cx="3474720" cy="2103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447" y="2103120"/>
            <a:ext cx="347472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447" y="2331720"/>
            <a:ext cx="3474720" cy="457200"/>
          </a:xfrm>
          <a:prstGeom prst="rect">
            <a:avLst/>
          </a:prstGeom>
          <a:noFill/>
        </p:spPr>
        <p:txBody>
          <a:bodyPr wrap="square" lIns="0" tIns="0" rIns="0" bIns="0" anchor="t">
            <a:spAutoFit/>
          </a:bodyPr>
          <a:lstStyle/>
          <a:p>
            <a:pPr algn="ctr"/>
            <a:r>
              <a:rPr sz="1400" b="1">
                <a:solidFill>
                  <a:srgbClr val="EF4444"/>
                </a:solidFill>
                <a:latin typeface="Calibri"/>
              </a:rPr>
              <a:t>CLAUDE</a:t>
            </a:r>
          </a:p>
        </p:txBody>
      </p:sp>
      <p:sp>
        <p:nvSpPr>
          <p:cNvPr id="8" name="TextBox 7"/>
          <p:cNvSpPr txBox="1"/>
          <p:nvPr/>
        </p:nvSpPr>
        <p:spPr>
          <a:xfrm>
            <a:off x="609447" y="2743200"/>
            <a:ext cx="3474720" cy="914400"/>
          </a:xfrm>
          <a:prstGeom prst="rect">
            <a:avLst/>
          </a:prstGeom>
          <a:noFill/>
        </p:spPr>
        <p:txBody>
          <a:bodyPr wrap="square" lIns="0" tIns="0" rIns="0" bIns="0" anchor="t">
            <a:spAutoFit/>
          </a:bodyPr>
          <a:lstStyle/>
          <a:p>
            <a:pPr algn="ctr"/>
            <a:r>
              <a:rPr sz="5600" b="1">
                <a:solidFill>
                  <a:srgbClr val="FFFFFF"/>
                </a:solidFill>
                <a:latin typeface="Calibri"/>
              </a:rPr>
              <a:t>+10 pp</a:t>
            </a:r>
          </a:p>
        </p:txBody>
      </p:sp>
      <p:sp>
        <p:nvSpPr>
          <p:cNvPr id="9" name="TextBox 8"/>
          <p:cNvSpPr txBox="1"/>
          <p:nvPr/>
        </p:nvSpPr>
        <p:spPr>
          <a:xfrm>
            <a:off x="609447" y="3703320"/>
            <a:ext cx="3474720" cy="411480"/>
          </a:xfrm>
          <a:prstGeom prst="rect">
            <a:avLst/>
          </a:prstGeom>
          <a:noFill/>
        </p:spPr>
        <p:txBody>
          <a:bodyPr wrap="square" lIns="0" tIns="0" rIns="0" bIns="0" anchor="t">
            <a:spAutoFit/>
          </a:bodyPr>
          <a:lstStyle/>
          <a:p>
            <a:pPr algn="ctr"/>
            <a:r>
              <a:rPr sz="1400" b="0">
                <a:solidFill>
                  <a:srgbClr val="F8FAFC"/>
                </a:solidFill>
                <a:latin typeface="Calibri"/>
              </a:rPr>
              <a:t>82,5% → 92,5%</a:t>
            </a:r>
          </a:p>
        </p:txBody>
      </p:sp>
      <p:sp>
        <p:nvSpPr>
          <p:cNvPr id="10" name="Rectangle 9"/>
          <p:cNvSpPr/>
          <p:nvPr/>
        </p:nvSpPr>
        <p:spPr>
          <a:xfrm>
            <a:off x="4358487" y="2103120"/>
            <a:ext cx="3474720" cy="2103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58487" y="2103120"/>
            <a:ext cx="347472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58487" y="2331720"/>
            <a:ext cx="3474720" cy="457200"/>
          </a:xfrm>
          <a:prstGeom prst="rect">
            <a:avLst/>
          </a:prstGeom>
          <a:noFill/>
        </p:spPr>
        <p:txBody>
          <a:bodyPr wrap="square" lIns="0" tIns="0" rIns="0" bIns="0" anchor="t">
            <a:spAutoFit/>
          </a:bodyPr>
          <a:lstStyle/>
          <a:p>
            <a:pPr algn="ctr"/>
            <a:r>
              <a:rPr sz="1400" b="1">
                <a:solidFill>
                  <a:srgbClr val="EF4444"/>
                </a:solidFill>
                <a:latin typeface="Calibri"/>
              </a:rPr>
              <a:t>GEMINI</a:t>
            </a:r>
          </a:p>
        </p:txBody>
      </p:sp>
      <p:sp>
        <p:nvSpPr>
          <p:cNvPr id="13" name="TextBox 12"/>
          <p:cNvSpPr txBox="1"/>
          <p:nvPr/>
        </p:nvSpPr>
        <p:spPr>
          <a:xfrm>
            <a:off x="4358487" y="2743200"/>
            <a:ext cx="3474720" cy="914400"/>
          </a:xfrm>
          <a:prstGeom prst="rect">
            <a:avLst/>
          </a:prstGeom>
          <a:noFill/>
        </p:spPr>
        <p:txBody>
          <a:bodyPr wrap="square" lIns="0" tIns="0" rIns="0" bIns="0" anchor="t">
            <a:spAutoFit/>
          </a:bodyPr>
          <a:lstStyle/>
          <a:p>
            <a:pPr algn="ctr"/>
            <a:r>
              <a:rPr sz="5600" b="1">
                <a:solidFill>
                  <a:srgbClr val="FFFFFF"/>
                </a:solidFill>
                <a:latin typeface="Calibri"/>
              </a:rPr>
              <a:t>+7,5 pp</a:t>
            </a:r>
          </a:p>
        </p:txBody>
      </p:sp>
      <p:sp>
        <p:nvSpPr>
          <p:cNvPr id="14" name="TextBox 13"/>
          <p:cNvSpPr txBox="1"/>
          <p:nvPr/>
        </p:nvSpPr>
        <p:spPr>
          <a:xfrm>
            <a:off x="4358487" y="3703320"/>
            <a:ext cx="3474720" cy="411480"/>
          </a:xfrm>
          <a:prstGeom prst="rect">
            <a:avLst/>
          </a:prstGeom>
          <a:noFill/>
        </p:spPr>
        <p:txBody>
          <a:bodyPr wrap="square" lIns="0" tIns="0" rIns="0" bIns="0" anchor="t">
            <a:spAutoFit/>
          </a:bodyPr>
          <a:lstStyle/>
          <a:p>
            <a:pPr algn="ctr"/>
            <a:r>
              <a:rPr sz="1400" b="0">
                <a:solidFill>
                  <a:srgbClr val="F8FAFC"/>
                </a:solidFill>
                <a:latin typeface="Calibri"/>
              </a:rPr>
              <a:t>80,0% → 87,5%</a:t>
            </a:r>
          </a:p>
        </p:txBody>
      </p:sp>
      <p:sp>
        <p:nvSpPr>
          <p:cNvPr id="15" name="Rectangle 14"/>
          <p:cNvSpPr/>
          <p:nvPr/>
        </p:nvSpPr>
        <p:spPr>
          <a:xfrm>
            <a:off x="8107527" y="2103120"/>
            <a:ext cx="3474720" cy="2103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7527" y="2103120"/>
            <a:ext cx="347472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07527" y="2331720"/>
            <a:ext cx="3474720" cy="457200"/>
          </a:xfrm>
          <a:prstGeom prst="rect">
            <a:avLst/>
          </a:prstGeom>
          <a:noFill/>
        </p:spPr>
        <p:txBody>
          <a:bodyPr wrap="square" lIns="0" tIns="0" rIns="0" bIns="0" anchor="t">
            <a:spAutoFit/>
          </a:bodyPr>
          <a:lstStyle/>
          <a:p>
            <a:pPr algn="ctr"/>
            <a:r>
              <a:rPr sz="1400" b="1">
                <a:solidFill>
                  <a:srgbClr val="EF4444"/>
                </a:solidFill>
                <a:latin typeface="Calibri"/>
              </a:rPr>
              <a:t>LLAMA</a:t>
            </a:r>
          </a:p>
        </p:txBody>
      </p:sp>
      <p:sp>
        <p:nvSpPr>
          <p:cNvPr id="18" name="TextBox 17"/>
          <p:cNvSpPr txBox="1"/>
          <p:nvPr/>
        </p:nvSpPr>
        <p:spPr>
          <a:xfrm>
            <a:off x="8107527" y="2743200"/>
            <a:ext cx="3474720" cy="914400"/>
          </a:xfrm>
          <a:prstGeom prst="rect">
            <a:avLst/>
          </a:prstGeom>
          <a:noFill/>
        </p:spPr>
        <p:txBody>
          <a:bodyPr wrap="square" lIns="0" tIns="0" rIns="0" bIns="0" anchor="t">
            <a:spAutoFit/>
          </a:bodyPr>
          <a:lstStyle/>
          <a:p>
            <a:pPr algn="ctr"/>
            <a:r>
              <a:rPr sz="5600" b="1">
                <a:solidFill>
                  <a:srgbClr val="FFFFFF"/>
                </a:solidFill>
                <a:latin typeface="Calibri"/>
              </a:rPr>
              <a:t>+7,5 pp</a:t>
            </a:r>
          </a:p>
        </p:txBody>
      </p:sp>
      <p:sp>
        <p:nvSpPr>
          <p:cNvPr id="19" name="TextBox 18"/>
          <p:cNvSpPr txBox="1"/>
          <p:nvPr/>
        </p:nvSpPr>
        <p:spPr>
          <a:xfrm>
            <a:off x="8107527" y="3703320"/>
            <a:ext cx="3474720" cy="411480"/>
          </a:xfrm>
          <a:prstGeom prst="rect">
            <a:avLst/>
          </a:prstGeom>
          <a:noFill/>
        </p:spPr>
        <p:txBody>
          <a:bodyPr wrap="square" lIns="0" tIns="0" rIns="0" bIns="0" anchor="t">
            <a:spAutoFit/>
          </a:bodyPr>
          <a:lstStyle/>
          <a:p>
            <a:pPr algn="ctr"/>
            <a:r>
              <a:rPr sz="1400" b="0">
                <a:solidFill>
                  <a:srgbClr val="F8FAFC"/>
                </a:solidFill>
                <a:latin typeface="Calibri"/>
              </a:rPr>
              <a:t>50,0% → 57,5%</a:t>
            </a:r>
          </a:p>
        </p:txBody>
      </p:sp>
      <p:sp>
        <p:nvSpPr>
          <p:cNvPr id="20" name="Rectangle 19"/>
          <p:cNvSpPr/>
          <p:nvPr/>
        </p:nvSpPr>
        <p:spPr>
          <a:xfrm>
            <a:off x="548640" y="4663440"/>
            <a:ext cx="11091672" cy="1554480"/>
          </a:xfrm>
          <a:prstGeom prst="rect">
            <a:avLst/>
          </a:prstGeom>
          <a:solidFill>
            <a:srgbClr val="070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846320"/>
            <a:ext cx="10058400" cy="365760"/>
          </a:xfrm>
          <a:prstGeom prst="rect">
            <a:avLst/>
          </a:prstGeom>
          <a:noFill/>
        </p:spPr>
        <p:txBody>
          <a:bodyPr wrap="square" lIns="0" tIns="0" rIns="0" bIns="0" anchor="t">
            <a:spAutoFit/>
          </a:bodyPr>
          <a:lstStyle/>
          <a:p>
            <a:pPr algn="l"/>
            <a:r>
              <a:rPr sz="1200" b="1">
                <a:solidFill>
                  <a:srgbClr val="0D9488"/>
                </a:solidFill>
                <a:latin typeface="Calibri"/>
              </a:rPr>
              <a:t>HIPOTEZA: PARTIAL-MATCH BIAS</a:t>
            </a:r>
          </a:p>
        </p:txBody>
      </p:sp>
      <p:sp>
        <p:nvSpPr>
          <p:cNvPr id="22" name="TextBox 21"/>
          <p:cNvSpPr txBox="1"/>
          <p:nvPr/>
        </p:nvSpPr>
        <p:spPr>
          <a:xfrm>
            <a:off x="822960" y="5166360"/>
            <a:ext cx="10515600" cy="1005840"/>
          </a:xfrm>
          <a:prstGeom prst="rect">
            <a:avLst/>
          </a:prstGeom>
          <a:noFill/>
        </p:spPr>
        <p:txBody>
          <a:bodyPr wrap="square" lIns="0" tIns="0" rIns="0" bIns="0" anchor="t">
            <a:spAutoFit/>
          </a:bodyPr>
          <a:lstStyle/>
          <a:p>
            <a:pPr algn="l"/>
            <a:r>
              <a:rPr sz="1300" b="0">
                <a:solidFill>
                  <a:srgbClr val="F8FAFC"/>
                </a:solidFill>
                <a:latin typeface="Calibri"/>
              </a:rPr>
              <a:t>Top-1 retrieval podaje sędziemu wzorzec, który NIE musi być semantycznie idealny dla pytania.
Sędzia zaczyna nagradzać odpowiedzi za leksykalne podobieństwo do wzorca zamiast za merytorykę.
Dla domeny dobrze pokrytej pre-trainingiem (Core Java) — to zakłócenie, nie pomoc.</a:t>
            </a:r>
          </a:p>
        </p:txBody>
      </p:sp>
      <p:sp>
        <p:nvSpPr>
          <p:cNvPr id="23" name="TextBox 22"/>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24" name="TextBox 23"/>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6 / 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7 · RYGOR</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Per-label heatmap + bootstrap 95% CI</a:t>
            </a:r>
          </a:p>
        </p:txBody>
      </p:sp>
      <p:sp>
        <p:nvSpPr>
          <p:cNvPr id="5" name="TextBox 4"/>
          <p:cNvSpPr txBox="1"/>
          <p:nvPr/>
        </p:nvSpPr>
        <p:spPr>
          <a:xfrm>
            <a:off x="548640" y="1554480"/>
            <a:ext cx="5486400" cy="365760"/>
          </a:xfrm>
          <a:prstGeom prst="rect">
            <a:avLst/>
          </a:prstGeom>
          <a:noFill/>
        </p:spPr>
        <p:txBody>
          <a:bodyPr wrap="square" lIns="0" tIns="0" rIns="0" bIns="0" anchor="t">
            <a:spAutoFit/>
          </a:bodyPr>
          <a:lstStyle/>
          <a:p>
            <a:pPr algn="l"/>
            <a:r>
              <a:rPr sz="1200" b="1">
                <a:solidFill>
                  <a:srgbClr val="0D9488"/>
                </a:solidFill>
                <a:latin typeface="Calibri"/>
              </a:rPr>
              <a:t>GDZIE MODELE TRAFIAJĄ, A GDZIE NIE?</a:t>
            </a:r>
          </a:p>
        </p:txBody>
      </p:sp>
      <p:pic>
        <p:nvPicPr>
          <p:cNvPr id="6" name="Picture 5" descr="fig_perlabel_heatmap.png"/>
          <p:cNvPicPr>
            <a:picLocks noChangeAspect="1"/>
          </p:cNvPicPr>
          <p:nvPr/>
        </p:nvPicPr>
        <p:blipFill>
          <a:blip r:embed="rId3"/>
          <a:stretch>
            <a:fillRect/>
          </a:stretch>
        </p:blipFill>
        <p:spPr>
          <a:xfrm>
            <a:off x="365760" y="1874519"/>
            <a:ext cx="5852160" cy="3657600"/>
          </a:xfrm>
          <a:prstGeom prst="rect">
            <a:avLst/>
          </a:prstGeom>
        </p:spPr>
      </p:pic>
      <p:sp>
        <p:nvSpPr>
          <p:cNvPr id="7" name="TextBox 6"/>
          <p:cNvSpPr txBox="1"/>
          <p:nvPr/>
        </p:nvSpPr>
        <p:spPr>
          <a:xfrm>
            <a:off x="6675120" y="1554480"/>
            <a:ext cx="5486400" cy="365760"/>
          </a:xfrm>
          <a:prstGeom prst="rect">
            <a:avLst/>
          </a:prstGeom>
          <a:noFill/>
        </p:spPr>
        <p:txBody>
          <a:bodyPr wrap="square" lIns="0" tIns="0" rIns="0" bIns="0" anchor="t">
            <a:spAutoFit/>
          </a:bodyPr>
          <a:lstStyle/>
          <a:p>
            <a:pPr algn="l"/>
            <a:r>
              <a:rPr sz="1200" b="1">
                <a:solidFill>
                  <a:srgbClr val="0D9488"/>
                </a:solidFill>
                <a:latin typeface="Calibri"/>
              </a:rPr>
              <a:t>JAK SZEROKIE SĄ PRZEDZIAŁY UFNOŚCI?</a:t>
            </a:r>
          </a:p>
        </p:txBody>
      </p:sp>
      <p:pic>
        <p:nvPicPr>
          <p:cNvPr id="8" name="Picture 7" descr="fig_bootstrap_ci.png"/>
          <p:cNvPicPr>
            <a:picLocks noChangeAspect="1"/>
          </p:cNvPicPr>
          <p:nvPr/>
        </p:nvPicPr>
        <p:blipFill>
          <a:blip r:embed="rId4"/>
          <a:stretch>
            <a:fillRect/>
          </a:stretch>
        </p:blipFill>
        <p:spPr>
          <a:xfrm>
            <a:off x="6492240" y="1874519"/>
            <a:ext cx="5486400" cy="3657600"/>
          </a:xfrm>
          <a:prstGeom prst="rect">
            <a:avLst/>
          </a:prstGeom>
        </p:spPr>
      </p:pic>
      <p:sp>
        <p:nvSpPr>
          <p:cNvPr id="9" name="Rectangle 8"/>
          <p:cNvSpPr/>
          <p:nvPr/>
        </p:nvSpPr>
        <p:spPr>
          <a:xfrm>
            <a:off x="548640" y="5715000"/>
            <a:ext cx="11091672" cy="640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5806440"/>
            <a:ext cx="10515600" cy="457200"/>
          </a:xfrm>
          <a:prstGeom prst="rect">
            <a:avLst/>
          </a:prstGeom>
          <a:noFill/>
        </p:spPr>
        <p:txBody>
          <a:bodyPr wrap="square" lIns="0" tIns="0" rIns="0" bIns="0" anchor="t">
            <a:spAutoFit/>
          </a:bodyPr>
          <a:lstStyle/>
          <a:p>
            <a:pPr algn="l"/>
            <a:r>
              <a:rPr sz="1300" b="1">
                <a:solidFill>
                  <a:srgbClr val="FFFFFF"/>
                </a:solidFill>
                <a:latin typeface="Calibri"/>
              </a:rPr>
              <a:t>Bootstrap n=10 000:  dolne CI Claude·Pure (82,5%)  &gt;  górne CI Llama·Pure (72,5%)  →  różnica istotna statystycznie</a:t>
            </a:r>
          </a:p>
        </p:txBody>
      </p:sp>
      <p:sp>
        <p:nvSpPr>
          <p:cNvPr id="11" name="TextBox 10"/>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12" name="TextBox 11"/>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7 / 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7315200" cy="274320"/>
          </a:xfrm>
          <a:prstGeom prst="rect">
            <a:avLst/>
          </a:prstGeom>
          <a:noFill/>
        </p:spPr>
        <p:txBody>
          <a:bodyPr wrap="square" lIns="0" tIns="0" rIns="0" bIns="0" anchor="t">
            <a:spAutoFit/>
          </a:bodyPr>
          <a:lstStyle/>
          <a:p>
            <a:pPr algn="l"/>
            <a:r>
              <a:rPr sz="1100" b="1">
                <a:solidFill>
                  <a:srgbClr val="0D9488"/>
                </a:solidFill>
                <a:latin typeface="Calibri"/>
              </a:rPr>
              <a:t>SLAJD 8 · PRAGMATYKA</a:t>
            </a:r>
          </a:p>
        </p:txBody>
      </p:sp>
      <p:sp>
        <p:nvSpPr>
          <p:cNvPr id="4" name="TextBox 3"/>
          <p:cNvSpPr txBox="1"/>
          <p:nvPr/>
        </p:nvSpPr>
        <p:spPr>
          <a:xfrm>
            <a:off x="548640" y="502920"/>
            <a:ext cx="10972800" cy="640080"/>
          </a:xfrm>
          <a:prstGeom prst="rect">
            <a:avLst/>
          </a:prstGeom>
          <a:noFill/>
        </p:spPr>
        <p:txBody>
          <a:bodyPr wrap="square" lIns="0" tIns="0" rIns="0" bIns="0" anchor="t">
            <a:spAutoFit/>
          </a:bodyPr>
          <a:lstStyle/>
          <a:p>
            <a:pPr algn="l"/>
            <a:r>
              <a:rPr sz="3000" b="1">
                <a:solidFill>
                  <a:srgbClr val="0F172A"/>
                </a:solidFill>
                <a:latin typeface="Calibri"/>
              </a:rPr>
              <a:t>Latencja i koszt: pareto-front</a:t>
            </a:r>
          </a:p>
        </p:txBody>
      </p:sp>
      <p:sp>
        <p:nvSpPr>
          <p:cNvPr id="5" name="Rectangle 4"/>
          <p:cNvSpPr/>
          <p:nvPr/>
        </p:nvSpPr>
        <p:spPr>
          <a:xfrm>
            <a:off x="609447" y="1737360"/>
            <a:ext cx="3474720"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447" y="1737360"/>
            <a:ext cx="347472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447" y="1810512"/>
            <a:ext cx="3474720" cy="365760"/>
          </a:xfrm>
          <a:prstGeom prst="rect">
            <a:avLst/>
          </a:prstGeom>
          <a:noFill/>
        </p:spPr>
        <p:txBody>
          <a:bodyPr wrap="square" lIns="0" tIns="0" rIns="0" bIns="0" anchor="t">
            <a:spAutoFit/>
          </a:bodyPr>
          <a:lstStyle/>
          <a:p>
            <a:pPr algn="ctr"/>
            <a:r>
              <a:rPr sz="1400" b="1">
                <a:solidFill>
                  <a:srgbClr val="FFFFFF"/>
                </a:solidFill>
                <a:latin typeface="Calibri"/>
              </a:rPr>
              <a:t>CLAUDE Sonnet 4.6</a:t>
            </a:r>
          </a:p>
        </p:txBody>
      </p:sp>
      <p:sp>
        <p:nvSpPr>
          <p:cNvPr id="8" name="TextBox 7"/>
          <p:cNvSpPr txBox="1"/>
          <p:nvPr/>
        </p:nvSpPr>
        <p:spPr>
          <a:xfrm>
            <a:off x="609447" y="2331720"/>
            <a:ext cx="3474720" cy="457200"/>
          </a:xfrm>
          <a:prstGeom prst="rect">
            <a:avLst/>
          </a:prstGeom>
          <a:noFill/>
        </p:spPr>
        <p:txBody>
          <a:bodyPr wrap="square" lIns="0" tIns="0" rIns="0" bIns="0" anchor="t">
            <a:spAutoFit/>
          </a:bodyPr>
          <a:lstStyle/>
          <a:p>
            <a:pPr algn="ctr"/>
            <a:r>
              <a:rPr sz="1000" b="1">
                <a:solidFill>
                  <a:srgbClr val="0D9488"/>
                </a:solidFill>
                <a:latin typeface="Calibri"/>
              </a:rPr>
              <a:t>WYBÓR JAKOŚCIOWY</a:t>
            </a:r>
          </a:p>
        </p:txBody>
      </p:sp>
      <p:sp>
        <p:nvSpPr>
          <p:cNvPr id="9" name="TextBox 8"/>
          <p:cNvSpPr txBox="1"/>
          <p:nvPr/>
        </p:nvSpPr>
        <p:spPr>
          <a:xfrm>
            <a:off x="609447" y="2651760"/>
            <a:ext cx="3474720" cy="822960"/>
          </a:xfrm>
          <a:prstGeom prst="rect">
            <a:avLst/>
          </a:prstGeom>
          <a:noFill/>
        </p:spPr>
        <p:txBody>
          <a:bodyPr wrap="square" lIns="0" tIns="0" rIns="0" bIns="0" anchor="t">
            <a:spAutoFit/>
          </a:bodyPr>
          <a:lstStyle/>
          <a:p>
            <a:pPr algn="ctr"/>
            <a:r>
              <a:rPr sz="4400" b="1">
                <a:solidFill>
                  <a:srgbClr val="0F172A"/>
                </a:solidFill>
                <a:latin typeface="Calibri"/>
              </a:rPr>
              <a:t>92,5%</a:t>
            </a:r>
          </a:p>
        </p:txBody>
      </p:sp>
      <p:sp>
        <p:nvSpPr>
          <p:cNvPr id="10" name="TextBox 9"/>
          <p:cNvSpPr txBox="1"/>
          <p:nvPr/>
        </p:nvSpPr>
        <p:spPr>
          <a:xfrm>
            <a:off x="609447" y="3474720"/>
            <a:ext cx="3474720" cy="365760"/>
          </a:xfrm>
          <a:prstGeom prst="rect">
            <a:avLst/>
          </a:prstGeom>
          <a:noFill/>
        </p:spPr>
        <p:txBody>
          <a:bodyPr wrap="square" lIns="0" tIns="0" rIns="0" bIns="0" anchor="t">
            <a:spAutoFit/>
          </a:bodyPr>
          <a:lstStyle/>
          <a:p>
            <a:pPr algn="ctr"/>
            <a:r>
              <a:rPr sz="1000" b="0">
                <a:solidFill>
                  <a:srgbClr val="64748B"/>
                </a:solidFill>
                <a:latin typeface="Calibri"/>
              </a:rPr>
              <a:t>accuracy</a:t>
            </a:r>
          </a:p>
        </p:txBody>
      </p:sp>
      <p:sp>
        <p:nvSpPr>
          <p:cNvPr id="11" name="Rectangle 10"/>
          <p:cNvSpPr/>
          <p:nvPr/>
        </p:nvSpPr>
        <p:spPr>
          <a:xfrm>
            <a:off x="975207" y="3886200"/>
            <a:ext cx="27432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3767" y="4023360"/>
            <a:ext cx="2926080" cy="274320"/>
          </a:xfrm>
          <a:prstGeom prst="rect">
            <a:avLst/>
          </a:prstGeom>
          <a:noFill/>
        </p:spPr>
        <p:txBody>
          <a:bodyPr wrap="square" lIns="0" tIns="0" rIns="0" bIns="0" anchor="t">
            <a:spAutoFit/>
          </a:bodyPr>
          <a:lstStyle/>
          <a:p>
            <a:pPr algn="l"/>
            <a:r>
              <a:rPr sz="1000" b="0">
                <a:solidFill>
                  <a:srgbClr val="64748B"/>
                </a:solidFill>
                <a:latin typeface="Calibri"/>
              </a:rPr>
              <a:t>latencja mediana:</a:t>
            </a:r>
          </a:p>
        </p:txBody>
      </p:sp>
      <p:sp>
        <p:nvSpPr>
          <p:cNvPr id="13" name="TextBox 12"/>
          <p:cNvSpPr txBox="1"/>
          <p:nvPr/>
        </p:nvSpPr>
        <p:spPr>
          <a:xfrm>
            <a:off x="883767" y="4251960"/>
            <a:ext cx="2926080" cy="274320"/>
          </a:xfrm>
          <a:prstGeom prst="rect">
            <a:avLst/>
          </a:prstGeom>
          <a:noFill/>
        </p:spPr>
        <p:txBody>
          <a:bodyPr wrap="square" lIns="0" tIns="0" rIns="0" bIns="0" anchor="t">
            <a:spAutoFit/>
          </a:bodyPr>
          <a:lstStyle/>
          <a:p>
            <a:pPr algn="l"/>
            <a:r>
              <a:rPr sz="1300" b="1">
                <a:solidFill>
                  <a:srgbClr val="1E293B"/>
                </a:solidFill>
                <a:latin typeface="Calibri"/>
              </a:rPr>
              <a:t>7,5 s / ocena</a:t>
            </a:r>
          </a:p>
        </p:txBody>
      </p:sp>
      <p:sp>
        <p:nvSpPr>
          <p:cNvPr id="14" name="TextBox 13"/>
          <p:cNvSpPr txBox="1"/>
          <p:nvPr/>
        </p:nvSpPr>
        <p:spPr>
          <a:xfrm>
            <a:off x="883767" y="4617720"/>
            <a:ext cx="2926080" cy="274320"/>
          </a:xfrm>
          <a:prstGeom prst="rect">
            <a:avLst/>
          </a:prstGeom>
          <a:noFill/>
        </p:spPr>
        <p:txBody>
          <a:bodyPr wrap="square" lIns="0" tIns="0" rIns="0" bIns="0" anchor="t">
            <a:spAutoFit/>
          </a:bodyPr>
          <a:lstStyle/>
          <a:p>
            <a:pPr algn="l"/>
            <a:r>
              <a:rPr sz="1000" b="0">
                <a:solidFill>
                  <a:srgbClr val="64748B"/>
                </a:solidFill>
                <a:latin typeface="Calibri"/>
              </a:rPr>
              <a:t>koszt:</a:t>
            </a:r>
          </a:p>
        </p:txBody>
      </p:sp>
      <p:sp>
        <p:nvSpPr>
          <p:cNvPr id="15" name="TextBox 14"/>
          <p:cNvSpPr txBox="1"/>
          <p:nvPr/>
        </p:nvSpPr>
        <p:spPr>
          <a:xfrm>
            <a:off x="883767" y="4846320"/>
            <a:ext cx="2926080" cy="274320"/>
          </a:xfrm>
          <a:prstGeom prst="rect">
            <a:avLst/>
          </a:prstGeom>
          <a:noFill/>
        </p:spPr>
        <p:txBody>
          <a:bodyPr wrap="square" lIns="0" tIns="0" rIns="0" bIns="0" anchor="t">
            <a:spAutoFit/>
          </a:bodyPr>
          <a:lstStyle/>
          <a:p>
            <a:pPr algn="l"/>
            <a:r>
              <a:rPr sz="1300" b="1">
                <a:solidFill>
                  <a:srgbClr val="1E293B"/>
                </a:solidFill>
                <a:latin typeface="Calibri"/>
              </a:rPr>
              <a:t>~$0,30 / 40 ocen</a:t>
            </a:r>
          </a:p>
        </p:txBody>
      </p:sp>
      <p:sp>
        <p:nvSpPr>
          <p:cNvPr id="16" name="TextBox 15"/>
          <p:cNvSpPr txBox="1"/>
          <p:nvPr/>
        </p:nvSpPr>
        <p:spPr>
          <a:xfrm>
            <a:off x="883767" y="5166360"/>
            <a:ext cx="2926080" cy="365760"/>
          </a:xfrm>
          <a:prstGeom prst="rect">
            <a:avLst/>
          </a:prstGeom>
          <a:noFill/>
        </p:spPr>
        <p:txBody>
          <a:bodyPr wrap="square" lIns="0" tIns="0" rIns="0" bIns="0" anchor="t">
            <a:spAutoFit/>
          </a:bodyPr>
          <a:lstStyle/>
          <a:p>
            <a:pPr algn="l"/>
            <a:r>
              <a:rPr sz="1100" b="0">
                <a:solidFill>
                  <a:srgbClr val="64748B"/>
                </a:solidFill>
                <a:latin typeface="Calibri"/>
              </a:rPr>
              <a:t>Najwyższa trafność.
Najdroższy w użyciu.</a:t>
            </a:r>
          </a:p>
        </p:txBody>
      </p:sp>
      <p:sp>
        <p:nvSpPr>
          <p:cNvPr id="17" name="Rectangle 16"/>
          <p:cNvSpPr/>
          <p:nvPr/>
        </p:nvSpPr>
        <p:spPr>
          <a:xfrm>
            <a:off x="4358487" y="1737360"/>
            <a:ext cx="3474720"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58487" y="1737360"/>
            <a:ext cx="3474720" cy="457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58487" y="1810512"/>
            <a:ext cx="3474720" cy="365760"/>
          </a:xfrm>
          <a:prstGeom prst="rect">
            <a:avLst/>
          </a:prstGeom>
          <a:noFill/>
        </p:spPr>
        <p:txBody>
          <a:bodyPr wrap="square" lIns="0" tIns="0" rIns="0" bIns="0" anchor="t">
            <a:spAutoFit/>
          </a:bodyPr>
          <a:lstStyle/>
          <a:p>
            <a:pPr algn="ctr"/>
            <a:r>
              <a:rPr sz="1400" b="1">
                <a:solidFill>
                  <a:srgbClr val="FFFFFF"/>
                </a:solidFill>
                <a:latin typeface="Calibri"/>
              </a:rPr>
              <a:t>GEMINI 2.5 Flash</a:t>
            </a:r>
          </a:p>
        </p:txBody>
      </p:sp>
      <p:sp>
        <p:nvSpPr>
          <p:cNvPr id="20" name="TextBox 19"/>
          <p:cNvSpPr txBox="1"/>
          <p:nvPr/>
        </p:nvSpPr>
        <p:spPr>
          <a:xfrm>
            <a:off x="4358487" y="2331720"/>
            <a:ext cx="3474720" cy="457200"/>
          </a:xfrm>
          <a:prstGeom prst="rect">
            <a:avLst/>
          </a:prstGeom>
          <a:noFill/>
        </p:spPr>
        <p:txBody>
          <a:bodyPr wrap="square" lIns="0" tIns="0" rIns="0" bIns="0" anchor="t">
            <a:spAutoFit/>
          </a:bodyPr>
          <a:lstStyle/>
          <a:p>
            <a:pPr algn="ctr"/>
            <a:r>
              <a:rPr sz="1000" b="1">
                <a:solidFill>
                  <a:srgbClr val="EF4444"/>
                </a:solidFill>
                <a:latin typeface="Calibri"/>
              </a:rPr>
              <a:t>SWEET SPOT</a:t>
            </a:r>
          </a:p>
        </p:txBody>
      </p:sp>
      <p:sp>
        <p:nvSpPr>
          <p:cNvPr id="21" name="TextBox 20"/>
          <p:cNvSpPr txBox="1"/>
          <p:nvPr/>
        </p:nvSpPr>
        <p:spPr>
          <a:xfrm>
            <a:off x="4358487" y="2651760"/>
            <a:ext cx="3474720" cy="822960"/>
          </a:xfrm>
          <a:prstGeom prst="rect">
            <a:avLst/>
          </a:prstGeom>
          <a:noFill/>
        </p:spPr>
        <p:txBody>
          <a:bodyPr wrap="square" lIns="0" tIns="0" rIns="0" bIns="0" anchor="t">
            <a:spAutoFit/>
          </a:bodyPr>
          <a:lstStyle/>
          <a:p>
            <a:pPr algn="ctr"/>
            <a:r>
              <a:rPr sz="4400" b="1">
                <a:solidFill>
                  <a:srgbClr val="0F172A"/>
                </a:solidFill>
                <a:latin typeface="Calibri"/>
              </a:rPr>
              <a:t>85,0%</a:t>
            </a:r>
          </a:p>
        </p:txBody>
      </p:sp>
      <p:sp>
        <p:nvSpPr>
          <p:cNvPr id="22" name="TextBox 21"/>
          <p:cNvSpPr txBox="1"/>
          <p:nvPr/>
        </p:nvSpPr>
        <p:spPr>
          <a:xfrm>
            <a:off x="4358487" y="3474720"/>
            <a:ext cx="3474720" cy="365760"/>
          </a:xfrm>
          <a:prstGeom prst="rect">
            <a:avLst/>
          </a:prstGeom>
          <a:noFill/>
        </p:spPr>
        <p:txBody>
          <a:bodyPr wrap="square" lIns="0" tIns="0" rIns="0" bIns="0" anchor="t">
            <a:spAutoFit/>
          </a:bodyPr>
          <a:lstStyle/>
          <a:p>
            <a:pPr algn="ctr"/>
            <a:r>
              <a:rPr sz="1000" b="0">
                <a:solidFill>
                  <a:srgbClr val="64748B"/>
                </a:solidFill>
                <a:latin typeface="Calibri"/>
              </a:rPr>
              <a:t>accuracy</a:t>
            </a:r>
          </a:p>
        </p:txBody>
      </p:sp>
      <p:sp>
        <p:nvSpPr>
          <p:cNvPr id="23" name="Rectangle 22"/>
          <p:cNvSpPr/>
          <p:nvPr/>
        </p:nvSpPr>
        <p:spPr>
          <a:xfrm>
            <a:off x="4724247" y="3886200"/>
            <a:ext cx="27432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2807" y="4023360"/>
            <a:ext cx="2926080" cy="274320"/>
          </a:xfrm>
          <a:prstGeom prst="rect">
            <a:avLst/>
          </a:prstGeom>
          <a:noFill/>
        </p:spPr>
        <p:txBody>
          <a:bodyPr wrap="square" lIns="0" tIns="0" rIns="0" bIns="0" anchor="t">
            <a:spAutoFit/>
          </a:bodyPr>
          <a:lstStyle/>
          <a:p>
            <a:pPr algn="l"/>
            <a:r>
              <a:rPr sz="1000" b="0">
                <a:solidFill>
                  <a:srgbClr val="64748B"/>
                </a:solidFill>
                <a:latin typeface="Calibri"/>
              </a:rPr>
              <a:t>latencja mediana:</a:t>
            </a:r>
          </a:p>
        </p:txBody>
      </p:sp>
      <p:sp>
        <p:nvSpPr>
          <p:cNvPr id="25" name="TextBox 24"/>
          <p:cNvSpPr txBox="1"/>
          <p:nvPr/>
        </p:nvSpPr>
        <p:spPr>
          <a:xfrm>
            <a:off x="4632807" y="4251960"/>
            <a:ext cx="2926080" cy="274320"/>
          </a:xfrm>
          <a:prstGeom prst="rect">
            <a:avLst/>
          </a:prstGeom>
          <a:noFill/>
        </p:spPr>
        <p:txBody>
          <a:bodyPr wrap="square" lIns="0" tIns="0" rIns="0" bIns="0" anchor="t">
            <a:spAutoFit/>
          </a:bodyPr>
          <a:lstStyle/>
          <a:p>
            <a:pPr algn="l"/>
            <a:r>
              <a:rPr sz="1300" b="1">
                <a:solidFill>
                  <a:srgbClr val="1E293B"/>
                </a:solidFill>
                <a:latin typeface="Calibri"/>
              </a:rPr>
              <a:t>6,8 s / ocena</a:t>
            </a:r>
          </a:p>
        </p:txBody>
      </p:sp>
      <p:sp>
        <p:nvSpPr>
          <p:cNvPr id="26" name="TextBox 25"/>
          <p:cNvSpPr txBox="1"/>
          <p:nvPr/>
        </p:nvSpPr>
        <p:spPr>
          <a:xfrm>
            <a:off x="4632807" y="4617720"/>
            <a:ext cx="2926080" cy="274320"/>
          </a:xfrm>
          <a:prstGeom prst="rect">
            <a:avLst/>
          </a:prstGeom>
          <a:noFill/>
        </p:spPr>
        <p:txBody>
          <a:bodyPr wrap="square" lIns="0" tIns="0" rIns="0" bIns="0" anchor="t">
            <a:spAutoFit/>
          </a:bodyPr>
          <a:lstStyle/>
          <a:p>
            <a:pPr algn="l"/>
            <a:r>
              <a:rPr sz="1000" b="0">
                <a:solidFill>
                  <a:srgbClr val="64748B"/>
                </a:solidFill>
                <a:latin typeface="Calibri"/>
              </a:rPr>
              <a:t>koszt:</a:t>
            </a:r>
          </a:p>
        </p:txBody>
      </p:sp>
      <p:sp>
        <p:nvSpPr>
          <p:cNvPr id="27" name="TextBox 26"/>
          <p:cNvSpPr txBox="1"/>
          <p:nvPr/>
        </p:nvSpPr>
        <p:spPr>
          <a:xfrm>
            <a:off x="4632807" y="4846320"/>
            <a:ext cx="2926080" cy="274320"/>
          </a:xfrm>
          <a:prstGeom prst="rect">
            <a:avLst/>
          </a:prstGeom>
          <a:noFill/>
        </p:spPr>
        <p:txBody>
          <a:bodyPr wrap="square" lIns="0" tIns="0" rIns="0" bIns="0" anchor="t">
            <a:spAutoFit/>
          </a:bodyPr>
          <a:lstStyle/>
          <a:p>
            <a:pPr algn="l"/>
            <a:r>
              <a:rPr sz="1300" b="1">
                <a:solidFill>
                  <a:srgbClr val="1E293B"/>
                </a:solidFill>
                <a:latin typeface="Calibri"/>
              </a:rPr>
              <a:t>~$0,03 / 40 ocen</a:t>
            </a:r>
          </a:p>
        </p:txBody>
      </p:sp>
      <p:sp>
        <p:nvSpPr>
          <p:cNvPr id="28" name="TextBox 27"/>
          <p:cNvSpPr txBox="1"/>
          <p:nvPr/>
        </p:nvSpPr>
        <p:spPr>
          <a:xfrm>
            <a:off x="4632807" y="5166360"/>
            <a:ext cx="2926080" cy="365760"/>
          </a:xfrm>
          <a:prstGeom prst="rect">
            <a:avLst/>
          </a:prstGeom>
          <a:noFill/>
        </p:spPr>
        <p:txBody>
          <a:bodyPr wrap="square" lIns="0" tIns="0" rIns="0" bIns="0" anchor="t">
            <a:spAutoFit/>
          </a:bodyPr>
          <a:lstStyle/>
          <a:p>
            <a:pPr algn="l"/>
            <a:r>
              <a:rPr sz="1100" b="0">
                <a:solidFill>
                  <a:srgbClr val="64748B"/>
                </a:solidFill>
                <a:latin typeface="Calibri"/>
              </a:rPr>
              <a:t>Najlepszy stosunek
jakość/cena.</a:t>
            </a:r>
          </a:p>
        </p:txBody>
      </p:sp>
      <p:sp>
        <p:nvSpPr>
          <p:cNvPr id="29" name="Rectangle 28"/>
          <p:cNvSpPr/>
          <p:nvPr/>
        </p:nvSpPr>
        <p:spPr>
          <a:xfrm>
            <a:off x="8107527" y="1737360"/>
            <a:ext cx="3474720"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07527" y="1737360"/>
            <a:ext cx="3474720" cy="4572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07527" y="1810512"/>
            <a:ext cx="3474720" cy="365760"/>
          </a:xfrm>
          <a:prstGeom prst="rect">
            <a:avLst/>
          </a:prstGeom>
          <a:noFill/>
        </p:spPr>
        <p:txBody>
          <a:bodyPr wrap="square" lIns="0" tIns="0" rIns="0" bIns="0" anchor="t">
            <a:spAutoFit/>
          </a:bodyPr>
          <a:lstStyle/>
          <a:p>
            <a:pPr algn="ctr"/>
            <a:r>
              <a:rPr sz="1400" b="1">
                <a:solidFill>
                  <a:srgbClr val="FFFFFF"/>
                </a:solidFill>
                <a:latin typeface="Calibri"/>
              </a:rPr>
              <a:t>LLAMA 3.1:8b</a:t>
            </a:r>
          </a:p>
        </p:txBody>
      </p:sp>
      <p:sp>
        <p:nvSpPr>
          <p:cNvPr id="32" name="TextBox 31"/>
          <p:cNvSpPr txBox="1"/>
          <p:nvPr/>
        </p:nvSpPr>
        <p:spPr>
          <a:xfrm>
            <a:off x="8107527" y="2331720"/>
            <a:ext cx="3474720" cy="457200"/>
          </a:xfrm>
          <a:prstGeom prst="rect">
            <a:avLst/>
          </a:prstGeom>
          <a:noFill/>
        </p:spPr>
        <p:txBody>
          <a:bodyPr wrap="square" lIns="0" tIns="0" rIns="0" bIns="0" anchor="t">
            <a:spAutoFit/>
          </a:bodyPr>
          <a:lstStyle/>
          <a:p>
            <a:pPr algn="ctr"/>
            <a:r>
              <a:rPr sz="1000" b="1">
                <a:solidFill>
                  <a:srgbClr val="64748B"/>
                </a:solidFill>
                <a:latin typeface="Calibri"/>
              </a:rPr>
              <a:t>BUDŻETOWO</a:t>
            </a:r>
          </a:p>
        </p:txBody>
      </p:sp>
      <p:sp>
        <p:nvSpPr>
          <p:cNvPr id="33" name="TextBox 32"/>
          <p:cNvSpPr txBox="1"/>
          <p:nvPr/>
        </p:nvSpPr>
        <p:spPr>
          <a:xfrm>
            <a:off x="8107527" y="2651760"/>
            <a:ext cx="3474720" cy="822960"/>
          </a:xfrm>
          <a:prstGeom prst="rect">
            <a:avLst/>
          </a:prstGeom>
          <a:noFill/>
        </p:spPr>
        <p:txBody>
          <a:bodyPr wrap="square" lIns="0" tIns="0" rIns="0" bIns="0" anchor="t">
            <a:spAutoFit/>
          </a:bodyPr>
          <a:lstStyle/>
          <a:p>
            <a:pPr algn="ctr"/>
            <a:r>
              <a:rPr sz="4400" b="1">
                <a:solidFill>
                  <a:srgbClr val="0F172A"/>
                </a:solidFill>
                <a:latin typeface="Calibri"/>
              </a:rPr>
              <a:t>57,5%</a:t>
            </a:r>
          </a:p>
        </p:txBody>
      </p:sp>
      <p:sp>
        <p:nvSpPr>
          <p:cNvPr id="34" name="TextBox 33"/>
          <p:cNvSpPr txBox="1"/>
          <p:nvPr/>
        </p:nvSpPr>
        <p:spPr>
          <a:xfrm>
            <a:off x="8107527" y="3474720"/>
            <a:ext cx="3474720" cy="365760"/>
          </a:xfrm>
          <a:prstGeom prst="rect">
            <a:avLst/>
          </a:prstGeom>
          <a:noFill/>
        </p:spPr>
        <p:txBody>
          <a:bodyPr wrap="square" lIns="0" tIns="0" rIns="0" bIns="0" anchor="t">
            <a:spAutoFit/>
          </a:bodyPr>
          <a:lstStyle/>
          <a:p>
            <a:pPr algn="ctr"/>
            <a:r>
              <a:rPr sz="1000" b="0">
                <a:solidFill>
                  <a:srgbClr val="64748B"/>
                </a:solidFill>
                <a:latin typeface="Calibri"/>
              </a:rPr>
              <a:t>accuracy</a:t>
            </a:r>
          </a:p>
        </p:txBody>
      </p:sp>
      <p:sp>
        <p:nvSpPr>
          <p:cNvPr id="35" name="Rectangle 34"/>
          <p:cNvSpPr/>
          <p:nvPr/>
        </p:nvSpPr>
        <p:spPr>
          <a:xfrm>
            <a:off x="8473287" y="3886200"/>
            <a:ext cx="27432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81847" y="4023360"/>
            <a:ext cx="2926080" cy="274320"/>
          </a:xfrm>
          <a:prstGeom prst="rect">
            <a:avLst/>
          </a:prstGeom>
          <a:noFill/>
        </p:spPr>
        <p:txBody>
          <a:bodyPr wrap="square" lIns="0" tIns="0" rIns="0" bIns="0" anchor="t">
            <a:spAutoFit/>
          </a:bodyPr>
          <a:lstStyle/>
          <a:p>
            <a:pPr algn="l"/>
            <a:r>
              <a:rPr sz="1000" b="0">
                <a:solidFill>
                  <a:srgbClr val="64748B"/>
                </a:solidFill>
                <a:latin typeface="Calibri"/>
              </a:rPr>
              <a:t>latencja mediana:</a:t>
            </a:r>
          </a:p>
        </p:txBody>
      </p:sp>
      <p:sp>
        <p:nvSpPr>
          <p:cNvPr id="37" name="TextBox 36"/>
          <p:cNvSpPr txBox="1"/>
          <p:nvPr/>
        </p:nvSpPr>
        <p:spPr>
          <a:xfrm>
            <a:off x="8381847" y="4251960"/>
            <a:ext cx="2926080" cy="274320"/>
          </a:xfrm>
          <a:prstGeom prst="rect">
            <a:avLst/>
          </a:prstGeom>
          <a:noFill/>
        </p:spPr>
        <p:txBody>
          <a:bodyPr wrap="square" lIns="0" tIns="0" rIns="0" bIns="0" anchor="t">
            <a:spAutoFit/>
          </a:bodyPr>
          <a:lstStyle/>
          <a:p>
            <a:pPr algn="l"/>
            <a:r>
              <a:rPr sz="1300" b="1">
                <a:solidFill>
                  <a:srgbClr val="1E293B"/>
                </a:solidFill>
                <a:latin typeface="Calibri"/>
              </a:rPr>
              <a:t>25,6 s / ocena</a:t>
            </a:r>
          </a:p>
        </p:txBody>
      </p:sp>
      <p:sp>
        <p:nvSpPr>
          <p:cNvPr id="38" name="TextBox 37"/>
          <p:cNvSpPr txBox="1"/>
          <p:nvPr/>
        </p:nvSpPr>
        <p:spPr>
          <a:xfrm>
            <a:off x="8381847" y="4617720"/>
            <a:ext cx="2926080" cy="274320"/>
          </a:xfrm>
          <a:prstGeom prst="rect">
            <a:avLst/>
          </a:prstGeom>
          <a:noFill/>
        </p:spPr>
        <p:txBody>
          <a:bodyPr wrap="square" lIns="0" tIns="0" rIns="0" bIns="0" anchor="t">
            <a:spAutoFit/>
          </a:bodyPr>
          <a:lstStyle/>
          <a:p>
            <a:pPr algn="l"/>
            <a:r>
              <a:rPr sz="1000" b="0">
                <a:solidFill>
                  <a:srgbClr val="64748B"/>
                </a:solidFill>
                <a:latin typeface="Calibri"/>
              </a:rPr>
              <a:t>koszt:</a:t>
            </a:r>
          </a:p>
        </p:txBody>
      </p:sp>
      <p:sp>
        <p:nvSpPr>
          <p:cNvPr id="39" name="TextBox 38"/>
          <p:cNvSpPr txBox="1"/>
          <p:nvPr/>
        </p:nvSpPr>
        <p:spPr>
          <a:xfrm>
            <a:off x="8381847" y="4846320"/>
            <a:ext cx="2926080" cy="274320"/>
          </a:xfrm>
          <a:prstGeom prst="rect">
            <a:avLst/>
          </a:prstGeom>
          <a:noFill/>
        </p:spPr>
        <p:txBody>
          <a:bodyPr wrap="square" lIns="0" tIns="0" rIns="0" bIns="0" anchor="t">
            <a:spAutoFit/>
          </a:bodyPr>
          <a:lstStyle/>
          <a:p>
            <a:pPr algn="l"/>
            <a:r>
              <a:rPr sz="1300" b="1">
                <a:solidFill>
                  <a:srgbClr val="1E293B"/>
                </a:solidFill>
                <a:latin typeface="Calibri"/>
              </a:rPr>
              <a:t>$0 (lokalnie)</a:t>
            </a:r>
          </a:p>
        </p:txBody>
      </p:sp>
      <p:sp>
        <p:nvSpPr>
          <p:cNvPr id="40" name="TextBox 39"/>
          <p:cNvSpPr txBox="1"/>
          <p:nvPr/>
        </p:nvSpPr>
        <p:spPr>
          <a:xfrm>
            <a:off x="8381847" y="5166360"/>
            <a:ext cx="2926080" cy="365760"/>
          </a:xfrm>
          <a:prstGeom prst="rect">
            <a:avLst/>
          </a:prstGeom>
          <a:noFill/>
        </p:spPr>
        <p:txBody>
          <a:bodyPr wrap="square" lIns="0" tIns="0" rIns="0" bIns="0" anchor="t">
            <a:spAutoFit/>
          </a:bodyPr>
          <a:lstStyle/>
          <a:p>
            <a:pPr algn="l"/>
            <a:r>
              <a:rPr sz="1100" b="0">
                <a:solidFill>
                  <a:srgbClr val="64748B"/>
                </a:solidFill>
                <a:latin typeface="Calibri"/>
              </a:rPr>
              <a:t>Darmowa, ale wolna
i niedokładna.</a:t>
            </a:r>
          </a:p>
        </p:txBody>
      </p:sp>
      <p:sp>
        <p:nvSpPr>
          <p:cNvPr id="41" name="TextBox 40"/>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42" name="TextBox 41"/>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8 / 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0972800" cy="365760"/>
          </a:xfrm>
          <a:prstGeom prst="rect">
            <a:avLst/>
          </a:prstGeom>
          <a:noFill/>
        </p:spPr>
        <p:txBody>
          <a:bodyPr wrap="square" lIns="0" tIns="0" rIns="0" bIns="0" anchor="t">
            <a:spAutoFit/>
          </a:bodyPr>
          <a:lstStyle/>
          <a:p>
            <a:pPr algn="l"/>
            <a:r>
              <a:rPr sz="1400" b="1">
                <a:solidFill>
                  <a:srgbClr val="0D9488"/>
                </a:solidFill>
                <a:latin typeface="Calibri"/>
              </a:rPr>
              <a:t>PODSUMOWANIE</a:t>
            </a:r>
          </a:p>
        </p:txBody>
      </p:sp>
      <p:sp>
        <p:nvSpPr>
          <p:cNvPr id="4" name="TextBox 3"/>
          <p:cNvSpPr txBox="1"/>
          <p:nvPr/>
        </p:nvSpPr>
        <p:spPr>
          <a:xfrm>
            <a:off x="548640" y="685800"/>
            <a:ext cx="10972800" cy="731520"/>
          </a:xfrm>
          <a:prstGeom prst="rect">
            <a:avLst/>
          </a:prstGeom>
          <a:noFill/>
        </p:spPr>
        <p:txBody>
          <a:bodyPr wrap="square" lIns="0" tIns="0" rIns="0" bIns="0" anchor="t">
            <a:spAutoFit/>
          </a:bodyPr>
          <a:lstStyle/>
          <a:p>
            <a:pPr algn="l"/>
            <a:r>
              <a:rPr sz="3200" b="1">
                <a:solidFill>
                  <a:srgbClr val="FFFFFF"/>
                </a:solidFill>
                <a:latin typeface="Calibri"/>
              </a:rPr>
              <a:t>Ograniczenia i wnioski</a:t>
            </a:r>
          </a:p>
        </p:txBody>
      </p:sp>
      <p:sp>
        <p:nvSpPr>
          <p:cNvPr id="5" name="TextBox 4"/>
          <p:cNvSpPr txBox="1"/>
          <p:nvPr/>
        </p:nvSpPr>
        <p:spPr>
          <a:xfrm>
            <a:off x="548640" y="1828800"/>
            <a:ext cx="5486400" cy="365760"/>
          </a:xfrm>
          <a:prstGeom prst="rect">
            <a:avLst/>
          </a:prstGeom>
          <a:noFill/>
        </p:spPr>
        <p:txBody>
          <a:bodyPr wrap="square" lIns="0" tIns="0" rIns="0" bIns="0" anchor="t">
            <a:spAutoFit/>
          </a:bodyPr>
          <a:lstStyle/>
          <a:p>
            <a:pPr algn="l"/>
            <a:r>
              <a:rPr sz="1300" b="1">
                <a:solidFill>
                  <a:srgbClr val="EF4444"/>
                </a:solidFill>
                <a:latin typeface="Calibri"/>
              </a:rPr>
              <a:t>OGRANICZENIA</a:t>
            </a:r>
          </a:p>
        </p:txBody>
      </p:sp>
      <p:sp>
        <p:nvSpPr>
          <p:cNvPr id="6" name="TextBox 5"/>
          <p:cNvSpPr txBox="1"/>
          <p:nvPr/>
        </p:nvSpPr>
        <p:spPr>
          <a:xfrm>
            <a:off x="548640" y="2286000"/>
            <a:ext cx="640080" cy="457200"/>
          </a:xfrm>
          <a:prstGeom prst="rect">
            <a:avLst/>
          </a:prstGeom>
          <a:noFill/>
        </p:spPr>
        <p:txBody>
          <a:bodyPr wrap="square" lIns="0" tIns="0" rIns="0" bIns="0" anchor="t">
            <a:spAutoFit/>
          </a:bodyPr>
          <a:lstStyle/>
          <a:p>
            <a:pPr algn="l"/>
            <a:r>
              <a:rPr sz="2400" b="1">
                <a:solidFill>
                  <a:srgbClr val="EF4444"/>
                </a:solidFill>
                <a:latin typeface="Calibri"/>
              </a:rPr>
              <a:t>01</a:t>
            </a:r>
          </a:p>
        </p:txBody>
      </p:sp>
      <p:sp>
        <p:nvSpPr>
          <p:cNvPr id="7" name="TextBox 6"/>
          <p:cNvSpPr txBox="1"/>
          <p:nvPr/>
        </p:nvSpPr>
        <p:spPr>
          <a:xfrm>
            <a:off x="1280160" y="2286000"/>
            <a:ext cx="4663440" cy="365760"/>
          </a:xfrm>
          <a:prstGeom prst="rect">
            <a:avLst/>
          </a:prstGeom>
          <a:noFill/>
        </p:spPr>
        <p:txBody>
          <a:bodyPr wrap="square" lIns="0" tIns="0" rIns="0" bIns="0" anchor="t">
            <a:spAutoFit/>
          </a:bodyPr>
          <a:lstStyle/>
          <a:p>
            <a:pPr algn="l"/>
            <a:r>
              <a:rPr sz="1400" b="1">
                <a:solidFill>
                  <a:srgbClr val="FFFFFF"/>
                </a:solidFill>
                <a:latin typeface="Calibri"/>
              </a:rPr>
              <a:t>n = 40 przypadków testowych</a:t>
            </a:r>
          </a:p>
        </p:txBody>
      </p:sp>
      <p:sp>
        <p:nvSpPr>
          <p:cNvPr id="8" name="TextBox 7"/>
          <p:cNvSpPr txBox="1"/>
          <p:nvPr/>
        </p:nvSpPr>
        <p:spPr>
          <a:xfrm>
            <a:off x="1280160" y="2606040"/>
            <a:ext cx="4663440" cy="548640"/>
          </a:xfrm>
          <a:prstGeom prst="rect">
            <a:avLst/>
          </a:prstGeom>
          <a:noFill/>
        </p:spPr>
        <p:txBody>
          <a:bodyPr wrap="square" lIns="0" tIns="0" rIns="0" bIns="0" anchor="t">
            <a:spAutoFit/>
          </a:bodyPr>
          <a:lstStyle/>
          <a:p>
            <a:pPr algn="l"/>
            <a:r>
              <a:rPr sz="1100" b="0">
                <a:solidFill>
                  <a:srgbClr val="F8FAFC"/>
                </a:solidFill>
                <a:latin typeface="Calibri"/>
              </a:rPr>
              <a:t>niewielka próba; bootstrap pokazuje szerokie CI</a:t>
            </a:r>
          </a:p>
        </p:txBody>
      </p:sp>
      <p:sp>
        <p:nvSpPr>
          <p:cNvPr id="9" name="TextBox 8"/>
          <p:cNvSpPr txBox="1"/>
          <p:nvPr/>
        </p:nvSpPr>
        <p:spPr>
          <a:xfrm>
            <a:off x="548640" y="3429000"/>
            <a:ext cx="640080" cy="457200"/>
          </a:xfrm>
          <a:prstGeom prst="rect">
            <a:avLst/>
          </a:prstGeom>
          <a:noFill/>
        </p:spPr>
        <p:txBody>
          <a:bodyPr wrap="square" lIns="0" tIns="0" rIns="0" bIns="0" anchor="t">
            <a:spAutoFit/>
          </a:bodyPr>
          <a:lstStyle/>
          <a:p>
            <a:pPr algn="l"/>
            <a:r>
              <a:rPr sz="2400" b="1">
                <a:solidFill>
                  <a:srgbClr val="EF4444"/>
                </a:solidFill>
                <a:latin typeface="Calibri"/>
              </a:rPr>
              <a:t>02</a:t>
            </a:r>
          </a:p>
        </p:txBody>
      </p:sp>
      <p:sp>
        <p:nvSpPr>
          <p:cNvPr id="10" name="TextBox 9"/>
          <p:cNvSpPr txBox="1"/>
          <p:nvPr/>
        </p:nvSpPr>
        <p:spPr>
          <a:xfrm>
            <a:off x="1280160" y="3429000"/>
            <a:ext cx="4663440" cy="365760"/>
          </a:xfrm>
          <a:prstGeom prst="rect">
            <a:avLst/>
          </a:prstGeom>
          <a:noFill/>
        </p:spPr>
        <p:txBody>
          <a:bodyPr wrap="square" lIns="0" tIns="0" rIns="0" bIns="0" anchor="t">
            <a:spAutoFit/>
          </a:bodyPr>
          <a:lstStyle/>
          <a:p>
            <a:pPr algn="l"/>
            <a:r>
              <a:rPr sz="1400" b="1">
                <a:solidFill>
                  <a:srgbClr val="FFFFFF"/>
                </a:solidFill>
                <a:latin typeface="Calibri"/>
              </a:rPr>
              <a:t>Tylko top-1 retrieval</a:t>
            </a:r>
          </a:p>
        </p:txBody>
      </p:sp>
      <p:sp>
        <p:nvSpPr>
          <p:cNvPr id="11" name="TextBox 10"/>
          <p:cNvSpPr txBox="1"/>
          <p:nvPr/>
        </p:nvSpPr>
        <p:spPr>
          <a:xfrm>
            <a:off x="1280160" y="3749040"/>
            <a:ext cx="4663440" cy="548640"/>
          </a:xfrm>
          <a:prstGeom prst="rect">
            <a:avLst/>
          </a:prstGeom>
          <a:noFill/>
        </p:spPr>
        <p:txBody>
          <a:bodyPr wrap="square" lIns="0" tIns="0" rIns="0" bIns="0" anchor="t">
            <a:spAutoFit/>
          </a:bodyPr>
          <a:lstStyle/>
          <a:p>
            <a:pPr algn="l"/>
            <a:r>
              <a:rPr sz="1100" b="0">
                <a:solidFill>
                  <a:srgbClr val="F8FAFC"/>
                </a:solidFill>
                <a:latin typeface="Calibri"/>
              </a:rPr>
              <a:t>warto by porównać top-3 i top-5</a:t>
            </a:r>
          </a:p>
        </p:txBody>
      </p:sp>
      <p:sp>
        <p:nvSpPr>
          <p:cNvPr id="12" name="TextBox 11"/>
          <p:cNvSpPr txBox="1"/>
          <p:nvPr/>
        </p:nvSpPr>
        <p:spPr>
          <a:xfrm>
            <a:off x="548640" y="4572000"/>
            <a:ext cx="640080" cy="457200"/>
          </a:xfrm>
          <a:prstGeom prst="rect">
            <a:avLst/>
          </a:prstGeom>
          <a:noFill/>
        </p:spPr>
        <p:txBody>
          <a:bodyPr wrap="square" lIns="0" tIns="0" rIns="0" bIns="0" anchor="t">
            <a:spAutoFit/>
          </a:bodyPr>
          <a:lstStyle/>
          <a:p>
            <a:pPr algn="l"/>
            <a:r>
              <a:rPr sz="2400" b="1">
                <a:solidFill>
                  <a:srgbClr val="EF4444"/>
                </a:solidFill>
                <a:latin typeface="Calibri"/>
              </a:rPr>
              <a:t>03</a:t>
            </a:r>
          </a:p>
        </p:txBody>
      </p:sp>
      <p:sp>
        <p:nvSpPr>
          <p:cNvPr id="13" name="TextBox 12"/>
          <p:cNvSpPr txBox="1"/>
          <p:nvPr/>
        </p:nvSpPr>
        <p:spPr>
          <a:xfrm>
            <a:off x="1280160" y="4572000"/>
            <a:ext cx="4663440" cy="365760"/>
          </a:xfrm>
          <a:prstGeom prst="rect">
            <a:avLst/>
          </a:prstGeom>
          <a:noFill/>
        </p:spPr>
        <p:txBody>
          <a:bodyPr wrap="square" lIns="0" tIns="0" rIns="0" bIns="0" anchor="t">
            <a:spAutoFit/>
          </a:bodyPr>
          <a:lstStyle/>
          <a:p>
            <a:pPr algn="l"/>
            <a:r>
              <a:rPr sz="1400" b="1">
                <a:solidFill>
                  <a:srgbClr val="FFFFFF"/>
                </a:solidFill>
                <a:latin typeface="Calibri"/>
              </a:rPr>
              <a:t>Brak human baseline</a:t>
            </a:r>
          </a:p>
        </p:txBody>
      </p:sp>
      <p:sp>
        <p:nvSpPr>
          <p:cNvPr id="14" name="TextBox 13"/>
          <p:cNvSpPr txBox="1"/>
          <p:nvPr/>
        </p:nvSpPr>
        <p:spPr>
          <a:xfrm>
            <a:off x="1280160" y="4892040"/>
            <a:ext cx="4663440" cy="548640"/>
          </a:xfrm>
          <a:prstGeom prst="rect">
            <a:avLst/>
          </a:prstGeom>
          <a:noFill/>
        </p:spPr>
        <p:txBody>
          <a:bodyPr wrap="square" lIns="0" tIns="0" rIns="0" bIns="0" anchor="t">
            <a:spAutoFit/>
          </a:bodyPr>
          <a:lstStyle/>
          <a:p>
            <a:pPr algn="l"/>
            <a:r>
              <a:rPr sz="1100" b="0">
                <a:solidFill>
                  <a:srgbClr val="F8FAFC"/>
                </a:solidFill>
                <a:latin typeface="Calibri"/>
              </a:rPr>
              <a:t>etykiety wystawione przez autora, nie panel ekspertów</a:t>
            </a:r>
          </a:p>
        </p:txBody>
      </p:sp>
      <p:sp>
        <p:nvSpPr>
          <p:cNvPr id="15" name="TextBox 14"/>
          <p:cNvSpPr txBox="1"/>
          <p:nvPr/>
        </p:nvSpPr>
        <p:spPr>
          <a:xfrm>
            <a:off x="6400800" y="1828800"/>
            <a:ext cx="5394960" cy="365760"/>
          </a:xfrm>
          <a:prstGeom prst="rect">
            <a:avLst/>
          </a:prstGeom>
          <a:noFill/>
        </p:spPr>
        <p:txBody>
          <a:bodyPr wrap="square" lIns="0" tIns="0" rIns="0" bIns="0" anchor="t">
            <a:spAutoFit/>
          </a:bodyPr>
          <a:lstStyle/>
          <a:p>
            <a:pPr algn="l"/>
            <a:r>
              <a:rPr sz="1300" b="1">
                <a:solidFill>
                  <a:srgbClr val="0D9488"/>
                </a:solidFill>
                <a:latin typeface="Calibri"/>
              </a:rPr>
              <a:t>WNIOSKI</a:t>
            </a:r>
          </a:p>
        </p:txBody>
      </p:sp>
      <p:sp>
        <p:nvSpPr>
          <p:cNvPr id="16" name="Rectangle 15"/>
          <p:cNvSpPr/>
          <p:nvPr/>
        </p:nvSpPr>
        <p:spPr>
          <a:xfrm>
            <a:off x="6400800" y="2377440"/>
            <a:ext cx="16459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20840" y="2286000"/>
            <a:ext cx="5029200" cy="731520"/>
          </a:xfrm>
          <a:prstGeom prst="rect">
            <a:avLst/>
          </a:prstGeom>
          <a:noFill/>
        </p:spPr>
        <p:txBody>
          <a:bodyPr wrap="square" lIns="0" tIns="0" rIns="0" bIns="0" anchor="t">
            <a:spAutoFit/>
          </a:bodyPr>
          <a:lstStyle/>
          <a:p>
            <a:pPr algn="l"/>
            <a:r>
              <a:rPr sz="1200" b="0">
                <a:solidFill>
                  <a:srgbClr val="FFFFFF"/>
                </a:solidFill>
                <a:latin typeface="Calibri"/>
              </a:rPr>
              <a:t>Modele komercyjne są realnymi sędziami technicznymi (Claude 92,5%, Gemini 85%).</a:t>
            </a:r>
          </a:p>
        </p:txBody>
      </p:sp>
      <p:sp>
        <p:nvSpPr>
          <p:cNvPr id="18" name="Rectangle 17"/>
          <p:cNvSpPr/>
          <p:nvPr/>
        </p:nvSpPr>
        <p:spPr>
          <a:xfrm>
            <a:off x="6400800" y="3154680"/>
            <a:ext cx="16459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0840" y="3063240"/>
            <a:ext cx="5029200" cy="731520"/>
          </a:xfrm>
          <a:prstGeom prst="rect">
            <a:avLst/>
          </a:prstGeom>
          <a:noFill/>
        </p:spPr>
        <p:txBody>
          <a:bodyPr wrap="square" lIns="0" tIns="0" rIns="0" bIns="0" anchor="t">
            <a:spAutoFit/>
          </a:bodyPr>
          <a:lstStyle/>
          <a:p>
            <a:pPr algn="l"/>
            <a:r>
              <a:rPr sz="1200" b="0">
                <a:solidFill>
                  <a:srgbClr val="FFFFFF"/>
                </a:solidFill>
                <a:latin typeface="Calibri"/>
              </a:rPr>
              <a:t>RAG nie zawsze pomaga — dla domen pokrytych pre-trainingiem partial-match bias szkodzi.</a:t>
            </a:r>
          </a:p>
        </p:txBody>
      </p:sp>
      <p:sp>
        <p:nvSpPr>
          <p:cNvPr id="20" name="Rectangle 19"/>
          <p:cNvSpPr/>
          <p:nvPr/>
        </p:nvSpPr>
        <p:spPr>
          <a:xfrm>
            <a:off x="6400800" y="3931920"/>
            <a:ext cx="16459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3840480"/>
            <a:ext cx="5029200" cy="731520"/>
          </a:xfrm>
          <a:prstGeom prst="rect">
            <a:avLst/>
          </a:prstGeom>
          <a:noFill/>
        </p:spPr>
        <p:txBody>
          <a:bodyPr wrap="square" lIns="0" tIns="0" rIns="0" bIns="0" anchor="t">
            <a:spAutoFit/>
          </a:bodyPr>
          <a:lstStyle/>
          <a:p>
            <a:pPr algn="l"/>
            <a:r>
              <a:rPr sz="1200" b="0">
                <a:solidFill>
                  <a:srgbClr val="FFFFFF"/>
                </a:solidFill>
                <a:latin typeface="Calibri"/>
              </a:rPr>
              <a:t>Rozmiar modelu ma kluczowe znaczenie — Llama 8B nie nadaje się jako autonomiczny sędzia.</a:t>
            </a:r>
          </a:p>
        </p:txBody>
      </p:sp>
      <p:sp>
        <p:nvSpPr>
          <p:cNvPr id="22" name="Rectangle 21"/>
          <p:cNvSpPr/>
          <p:nvPr/>
        </p:nvSpPr>
        <p:spPr>
          <a:xfrm>
            <a:off x="6400800" y="4709160"/>
            <a:ext cx="16459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0840" y="4617720"/>
            <a:ext cx="5029200" cy="731520"/>
          </a:xfrm>
          <a:prstGeom prst="rect">
            <a:avLst/>
          </a:prstGeom>
          <a:noFill/>
        </p:spPr>
        <p:txBody>
          <a:bodyPr wrap="square" lIns="0" tIns="0" rIns="0" bIns="0" anchor="t">
            <a:spAutoFit/>
          </a:bodyPr>
          <a:lstStyle/>
          <a:p>
            <a:pPr algn="l"/>
            <a:r>
              <a:rPr sz="1200" b="0">
                <a:solidFill>
                  <a:srgbClr val="FFFFFF"/>
                </a:solidFill>
                <a:latin typeface="Calibri"/>
              </a:rPr>
              <a:t>Determinizm jest istotny w ewaluacji — Claude w pełni stabilny, Gemini z Δ=5 pp.</a:t>
            </a:r>
          </a:p>
        </p:txBody>
      </p:sp>
      <p:sp>
        <p:nvSpPr>
          <p:cNvPr id="24" name="Rectangle 23"/>
          <p:cNvSpPr/>
          <p:nvPr/>
        </p:nvSpPr>
        <p:spPr>
          <a:xfrm>
            <a:off x="0" y="6126480"/>
            <a:ext cx="12191695" cy="731520"/>
          </a:xfrm>
          <a:prstGeom prst="rect">
            <a:avLst/>
          </a:prstGeom>
          <a:solidFill>
            <a:srgbClr val="070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263640"/>
            <a:ext cx="10972800" cy="215444"/>
          </a:xfrm>
          <a:prstGeom prst="rect">
            <a:avLst/>
          </a:prstGeom>
          <a:noFill/>
        </p:spPr>
        <p:txBody>
          <a:bodyPr wrap="square" lIns="0" tIns="0" rIns="0" bIns="0" anchor="t">
            <a:spAutoFit/>
          </a:bodyPr>
          <a:lstStyle/>
          <a:p>
            <a:pPr algn="ctr"/>
            <a:r>
              <a:rPr sz="1400" b="1" dirty="0" err="1">
                <a:solidFill>
                  <a:srgbClr val="0D9488"/>
                </a:solidFill>
                <a:latin typeface="Calibri"/>
              </a:rPr>
              <a:t>Dziękuję</a:t>
            </a:r>
            <a:r>
              <a:rPr sz="1400" b="1" dirty="0">
                <a:solidFill>
                  <a:srgbClr val="0D9488"/>
                </a:solidFill>
                <a:latin typeface="Calibri"/>
              </a:rPr>
              <a:t>  ·  </a:t>
            </a:r>
            <a:r>
              <a:rPr sz="1400" b="1" dirty="0" err="1">
                <a:solidFill>
                  <a:srgbClr val="0D9488"/>
                </a:solidFill>
                <a:latin typeface="Calibri"/>
              </a:rPr>
              <a:t>Pełny</a:t>
            </a:r>
            <a:r>
              <a:rPr sz="1400" b="1" dirty="0">
                <a:solidFill>
                  <a:srgbClr val="0D9488"/>
                </a:solidFill>
                <a:latin typeface="Calibri"/>
              </a:rPr>
              <a:t> </a:t>
            </a:r>
            <a:r>
              <a:rPr sz="1400" b="1" dirty="0" err="1">
                <a:solidFill>
                  <a:srgbClr val="0D9488"/>
                </a:solidFill>
                <a:latin typeface="Calibri"/>
              </a:rPr>
              <a:t>raport</a:t>
            </a:r>
            <a:r>
              <a:rPr sz="1400" b="1" dirty="0">
                <a:solidFill>
                  <a:srgbClr val="0D9488"/>
                </a:solidFill>
                <a:latin typeface="Calibri"/>
              </a:rPr>
              <a:t> (LaTeX) + </a:t>
            </a:r>
            <a:r>
              <a:rPr sz="1400" b="1" dirty="0" err="1">
                <a:solidFill>
                  <a:srgbClr val="0D9488"/>
                </a:solidFill>
                <a:latin typeface="Calibri"/>
              </a:rPr>
              <a:t>kod</a:t>
            </a:r>
            <a:r>
              <a:rPr sz="1400" b="1" dirty="0">
                <a:solidFill>
                  <a:srgbClr val="0D9488"/>
                </a:solidFill>
                <a:latin typeface="Calibri"/>
              </a:rPr>
              <a:t> </a:t>
            </a:r>
            <a:r>
              <a:rPr sz="1400" b="1" dirty="0" err="1">
                <a:solidFill>
                  <a:srgbClr val="0D9488"/>
                </a:solidFill>
                <a:latin typeface="Calibri"/>
              </a:rPr>
              <a:t>na</a:t>
            </a:r>
            <a:r>
              <a:rPr sz="1400" b="1" dirty="0">
                <a:solidFill>
                  <a:srgbClr val="0D9488"/>
                </a:solidFill>
                <a:latin typeface="Calibri"/>
              </a:rPr>
              <a:t> </a:t>
            </a:r>
            <a:r>
              <a:rPr sz="1400" b="1" dirty="0" err="1">
                <a:solidFill>
                  <a:srgbClr val="0D9488"/>
                </a:solidFill>
                <a:latin typeface="Calibri"/>
              </a:rPr>
              <a:t>GitHubie</a:t>
            </a:r>
            <a:endParaRPr sz="1400" b="1" dirty="0">
              <a:solidFill>
                <a:srgbClr val="0D9488"/>
              </a:solidFill>
              <a:latin typeface="Calibri"/>
            </a:endParaRPr>
          </a:p>
        </p:txBody>
      </p:sp>
      <p:sp>
        <p:nvSpPr>
          <p:cNvPr id="26" name="TextBox 25"/>
          <p:cNvSpPr txBox="1"/>
          <p:nvPr/>
        </p:nvSpPr>
        <p:spPr>
          <a:xfrm>
            <a:off x="548640" y="6537960"/>
            <a:ext cx="7315200" cy="228600"/>
          </a:xfrm>
          <a:prstGeom prst="rect">
            <a:avLst/>
          </a:prstGeom>
          <a:noFill/>
        </p:spPr>
        <p:txBody>
          <a:bodyPr wrap="square" lIns="0" tIns="0" rIns="0" bIns="0" anchor="t">
            <a:spAutoFit/>
          </a:bodyPr>
          <a:lstStyle/>
          <a:p>
            <a:pPr algn="l"/>
            <a:r>
              <a:rPr sz="900" b="0">
                <a:solidFill>
                  <a:srgbClr val="64748B"/>
                </a:solidFill>
                <a:latin typeface="Calibri"/>
              </a:rPr>
              <a:t>MockBean · LLM-as-a-Judge · Jakub Jurkian</a:t>
            </a:r>
          </a:p>
        </p:txBody>
      </p:sp>
      <p:sp>
        <p:nvSpPr>
          <p:cNvPr id="27" name="TextBox 26"/>
          <p:cNvSpPr txBox="1"/>
          <p:nvPr/>
        </p:nvSpPr>
        <p:spPr>
          <a:xfrm>
            <a:off x="10515600" y="6537960"/>
            <a:ext cx="1188720" cy="228600"/>
          </a:xfrm>
          <a:prstGeom prst="rect">
            <a:avLst/>
          </a:prstGeom>
          <a:noFill/>
        </p:spPr>
        <p:txBody>
          <a:bodyPr wrap="square" lIns="0" tIns="0" rIns="0" bIns="0" anchor="t">
            <a:spAutoFit/>
          </a:bodyPr>
          <a:lstStyle/>
          <a:p>
            <a:pPr algn="r"/>
            <a:r>
              <a:rPr sz="900" b="0">
                <a:solidFill>
                  <a:srgbClr val="64748B"/>
                </a:solidFill>
                <a:latin typeface="Calibr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2158</Words>
  <Application>Microsoft Office PowerPoint</Application>
  <PresentationFormat>Widescreen</PresentationFormat>
  <Paragraphs>241</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Jakub Jurkian</cp:lastModifiedBy>
  <cp:revision>2</cp:revision>
  <dcterms:created xsi:type="dcterms:W3CDTF">2013-01-27T09:14:16Z</dcterms:created>
  <dcterms:modified xsi:type="dcterms:W3CDTF">2026-05-22T21:48:46Z</dcterms:modified>
  <cp:category/>
</cp:coreProperties>
</file>