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20" autoAdjust="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6151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73152" cy="4114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RAPORT BADAWCZY · UG 2025/26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LLM-as-a-Judge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 err="1">
                <a:solidFill>
                  <a:srgbClr val="F8FAFC"/>
                </a:solidFill>
                <a:latin typeface="Calibri"/>
              </a:rPr>
              <a:t>Czy</a:t>
            </a:r>
            <a:r>
              <a:rPr sz="28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2800" b="0" dirty="0" err="1">
                <a:solidFill>
                  <a:srgbClr val="F8FAFC"/>
                </a:solidFill>
                <a:latin typeface="Calibri"/>
              </a:rPr>
              <a:t>modele</a:t>
            </a:r>
            <a:r>
              <a:rPr sz="28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2800" b="0" dirty="0" err="1">
                <a:solidFill>
                  <a:srgbClr val="F8FAFC"/>
                </a:solidFill>
                <a:latin typeface="Calibri"/>
              </a:rPr>
              <a:t>językowe</a:t>
            </a:r>
            <a:r>
              <a:rPr sz="28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2800" b="0" dirty="0" err="1">
                <a:solidFill>
                  <a:srgbClr val="F8FAFC"/>
                </a:solidFill>
                <a:latin typeface="Calibri"/>
              </a:rPr>
              <a:t>nadają</a:t>
            </a:r>
            <a:r>
              <a:rPr sz="28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2800" b="0" dirty="0" err="1">
                <a:solidFill>
                  <a:srgbClr val="F8FAFC"/>
                </a:solidFill>
                <a:latin typeface="Calibri"/>
              </a:rPr>
              <a:t>się</a:t>
            </a:r>
            <a:r>
              <a:rPr sz="28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2800" b="0" dirty="0" err="1">
                <a:solidFill>
                  <a:srgbClr val="F8FAFC"/>
                </a:solidFill>
                <a:latin typeface="Calibri"/>
              </a:rPr>
              <a:t>na</a:t>
            </a:r>
            <a:r>
              <a:rPr sz="28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2800" b="0" dirty="0" err="1">
                <a:solidFill>
                  <a:srgbClr val="F8FAFC"/>
                </a:solidFill>
                <a:latin typeface="Calibri"/>
              </a:rPr>
              <a:t>stanowisko</a:t>
            </a:r>
            <a:r>
              <a:rPr sz="2800" b="0" dirty="0">
                <a:solidFill>
                  <a:srgbClr val="F8FAFC"/>
                </a:solidFill>
                <a:latin typeface="Calibri"/>
              </a:rPr>
              <a:t>
</a:t>
            </a:r>
            <a:r>
              <a:rPr sz="2800" b="0" dirty="0" err="1">
                <a:solidFill>
                  <a:srgbClr val="F8FAFC"/>
                </a:solidFill>
                <a:latin typeface="Calibri"/>
              </a:rPr>
              <a:t>rekrutera</a:t>
            </a:r>
            <a:r>
              <a:rPr sz="28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2800" b="0" dirty="0" err="1">
                <a:solidFill>
                  <a:srgbClr val="F8FAFC"/>
                </a:solidFill>
                <a:latin typeface="Calibri"/>
              </a:rPr>
              <a:t>technicznego</a:t>
            </a:r>
            <a:r>
              <a:rPr sz="2800" b="0">
                <a:solidFill>
                  <a:srgbClr val="F8FAFC"/>
                </a:solidFill>
                <a:latin typeface="Calibri"/>
              </a:rPr>
              <a:t>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70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Jakub Jurkian · nr indeksu 300806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0D9488"/>
                </a:solidFill>
                <a:latin typeface="Calibri"/>
              </a:rPr>
              <a:t>Inteligencja Obliczeniowa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SLAJD 2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Calibri"/>
              </a:rPr>
              <a:t>Po co automatyczny sędzia w rekrutacji?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486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1E293B"/>
                </a:solidFill>
                <a:latin typeface="Calibri"/>
              </a:rPr>
              <a:t>Ocena 1 kandydata na Junior Java =
30–60 min czasu seniora.
LLM-y obiecują automatyzację —
ale czy są wiarygodne na tym etapie?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554480"/>
            <a:ext cx="512064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0" y="1554480"/>
            <a:ext cx="73152" cy="42976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037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PYTANIA BADAWCZE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33172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D9488"/>
                </a:solidFill>
                <a:latin typeface="Calibri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404872"/>
            <a:ext cx="38404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1E293B"/>
                </a:solidFill>
                <a:latin typeface="Calibri"/>
              </a:rPr>
              <a:t>Czy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LLM-y </a:t>
            </a:r>
            <a:r>
              <a:rPr sz="1400" b="0" dirty="0" err="1">
                <a:solidFill>
                  <a:srgbClr val="1E293B"/>
                </a:solidFill>
                <a:latin typeface="Calibri"/>
              </a:rPr>
              <a:t>potrafią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E293B"/>
                </a:solidFill>
                <a:latin typeface="Calibri"/>
              </a:rPr>
              <a:t>rzetelnie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E293B"/>
                </a:solidFill>
                <a:latin typeface="Calibri"/>
              </a:rPr>
              <a:t>oceniać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E293B"/>
                </a:solidFill>
                <a:latin typeface="Calibri"/>
              </a:rPr>
              <a:t>odpowiedzi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z </a:t>
            </a:r>
            <a:r>
              <a:rPr lang="pl-PL" sz="1400" dirty="0">
                <a:solidFill>
                  <a:srgbClr val="1E293B"/>
                </a:solidFill>
                <a:latin typeface="Calibri"/>
              </a:rPr>
              <a:t>zakresu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Jav</a:t>
            </a:r>
            <a:r>
              <a:rPr lang="pl-PL" sz="1400" b="0" dirty="0">
                <a:solidFill>
                  <a:srgbClr val="1E293B"/>
                </a:solidFill>
                <a:latin typeface="Calibri"/>
              </a:rPr>
              <a:t>y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D9488"/>
                </a:solidFill>
                <a:latin typeface="Calibri"/>
              </a:rPr>
              <a:t>RQ2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547872"/>
            <a:ext cx="38404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1E293B"/>
                </a:solidFill>
                <a:latin typeface="Calibri"/>
              </a:rPr>
              <a:t>Czy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RAG</a:t>
            </a:r>
            <a:r>
              <a:rPr lang="pl-PL"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E293B"/>
                </a:solidFill>
                <a:latin typeface="Calibri"/>
              </a:rPr>
              <a:t>poprawia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E293B"/>
                </a:solidFill>
                <a:latin typeface="Calibri"/>
              </a:rPr>
              <a:t>jakość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E293B"/>
                </a:solidFill>
                <a:latin typeface="Calibri"/>
              </a:rPr>
              <a:t>oceny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E293B"/>
                </a:solidFill>
                <a:latin typeface="Calibri"/>
              </a:rPr>
              <a:t>względem</a:t>
            </a:r>
            <a:r>
              <a:rPr sz="1400" b="0" dirty="0">
                <a:solidFill>
                  <a:srgbClr val="1E293B"/>
                </a:solidFill>
                <a:latin typeface="Calibri"/>
              </a:rPr>
              <a:t> Pure Prompt</a:t>
            </a:r>
            <a:r>
              <a:rPr lang="pl-PL" sz="1400" dirty="0">
                <a:solidFill>
                  <a:srgbClr val="1E293B"/>
                </a:solidFill>
                <a:latin typeface="Calibri"/>
              </a:rPr>
              <a:t>?</a:t>
            </a:r>
            <a:endParaRPr sz="1400" b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903720" y="461772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D9488"/>
                </a:solidFill>
                <a:latin typeface="Calibri"/>
              </a:rPr>
              <a:t>RQ3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690872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Czy lokalny model open-source dorównuje modelom komercyjnym?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MockBean · LLM-as-a-Judge · Jakub Jurkian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SLAJD 3 · ARCHITEKTURA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Calibri"/>
              </a:rPr>
              <a:t>Jak działa MockBean</a:t>
            </a:r>
          </a:p>
        </p:txBody>
      </p:sp>
      <p:pic>
        <p:nvPicPr>
          <p:cNvPr id="5" name="Picture 4" descr="architek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7772400" cy="36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5544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STOS TECHNOLOGICZNY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2084832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0" y="19659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Java 21 · Spring Boot 3.5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496312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0" y="237744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LangChain4j 0.29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2907792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0" y="27889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PostgreSQL + pgvector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319272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0" y="32004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Ollama (Llama lokalnie)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3730752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36118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Anthropic API · Google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4142232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0" y="40233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Python — harness testowy / Swagger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MockBean · LLM-as-a-Judge · Jakub Jurkian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3 / 9</a:t>
            </a:r>
          </a:p>
        </p:txBody>
      </p:sp>
      <p:sp>
        <p:nvSpPr>
          <p:cNvPr id="50" name="ReqBox"/>
          <p:cNvSpPr/>
          <p:nvPr/>
        </p:nvSpPr>
        <p:spPr>
          <a:xfrm>
            <a:off x="548640" y="5290000"/>
            <a:ext cx="5486400" cy="11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lIns="91440" tIns="60960" rIns="91440" bIns="60960" rtlCol="0" anchor="t"/>
          <a:lstStyle/>
          <a:p>
            <a:pPr algn="l"/>
            <a:r>
              <a:rPr sz="900" b="1" dirty="0">
                <a:solidFill>
                  <a:srgbClr val="0D9488"/>
                </a:solidFill>
                <a:latin typeface="Consolas"/>
              </a:rPr>
              <a:t>→ REQUEST</a:t>
            </a:r>
          </a:p>
          <a:p>
            <a:pPr algn="l"/>
            <a:r>
              <a:rPr sz="900" b="0" dirty="0">
                <a:solidFill>
                  <a:srgbClr val="94A3B8"/>
                </a:solidFill>
                <a:latin typeface="Consolas"/>
              </a:rPr>
              <a:t>{</a:t>
            </a:r>
          </a:p>
          <a:p>
            <a:pPr indent="91440" algn="l"/>
            <a:r>
              <a:rPr sz="900" b="0" dirty="0">
                <a:solidFill>
                  <a:srgbClr val="A7F3D0"/>
                </a:solidFill>
                <a:latin typeface="Consolas"/>
              </a:rPr>
              <a:t>  "question"</a:t>
            </a:r>
            <a:r>
              <a:rPr sz="900" b="0" dirty="0">
                <a:solidFill>
                  <a:srgbClr val="94A3B8"/>
                </a:solidFill>
                <a:latin typeface="Consolas"/>
              </a:rPr>
              <a:t>: "What is the Garbage Collector?",</a:t>
            </a:r>
          </a:p>
          <a:p>
            <a:pPr indent="91440" algn="l"/>
            <a:r>
              <a:rPr sz="900" b="0" dirty="0">
                <a:solidFill>
                  <a:srgbClr val="A7F3D0"/>
                </a:solidFill>
                <a:latin typeface="Consolas"/>
              </a:rPr>
              <a:t>  "</a:t>
            </a:r>
            <a:r>
              <a:rPr sz="900" b="0" dirty="0" err="1">
                <a:solidFill>
                  <a:srgbClr val="A7F3D0"/>
                </a:solidFill>
                <a:latin typeface="Consolas"/>
              </a:rPr>
              <a:t>userAnswer</a:t>
            </a:r>
            <a:r>
              <a:rPr sz="900" b="0" dirty="0">
                <a:solidFill>
                  <a:srgbClr val="A7F3D0"/>
                </a:solidFill>
                <a:latin typeface="Consolas"/>
              </a:rPr>
              <a:t>"</a:t>
            </a:r>
            <a:r>
              <a:rPr sz="900" b="0" dirty="0">
                <a:solidFill>
                  <a:srgbClr val="94A3B8"/>
                </a:solidFill>
                <a:latin typeface="Consolas"/>
              </a:rPr>
              <a:t>: "GC automatically manages memory...",</a:t>
            </a:r>
          </a:p>
          <a:p>
            <a:pPr indent="91440" algn="l"/>
            <a:r>
              <a:rPr sz="900" b="0" dirty="0">
                <a:solidFill>
                  <a:srgbClr val="A7F3D0"/>
                </a:solidFill>
                <a:latin typeface="Consolas"/>
              </a:rPr>
              <a:t>  "mode"</a:t>
            </a:r>
            <a:r>
              <a:rPr sz="900" b="0" dirty="0">
                <a:solidFill>
                  <a:srgbClr val="94A3B8"/>
                </a:solidFill>
                <a:latin typeface="Consolas"/>
              </a:rPr>
              <a:t>: "pure"</a:t>
            </a:r>
          </a:p>
          <a:p>
            <a:pPr algn="l"/>
            <a:r>
              <a:rPr sz="900" b="0" dirty="0">
                <a:solidFill>
                  <a:srgbClr val="94A3B8"/>
                </a:solidFill>
                <a:latin typeface="Consolas"/>
              </a:rPr>
              <a:t>}</a:t>
            </a:r>
          </a:p>
        </p:txBody>
      </p:sp>
      <p:sp>
        <p:nvSpPr>
          <p:cNvPr id="51" name="RespBox"/>
          <p:cNvSpPr/>
          <p:nvPr/>
        </p:nvSpPr>
        <p:spPr>
          <a:xfrm>
            <a:off x="6218640" y="5290000"/>
            <a:ext cx="5608800" cy="118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lIns="91440" tIns="60960" rIns="91440" bIns="60960" rtlCol="0" anchor="t"/>
          <a:lstStyle/>
          <a:p>
            <a:pPr algn="l"/>
            <a:r>
              <a:rPr sz="900" b="1" dirty="0">
                <a:solidFill>
                  <a:srgbClr val="0D9488"/>
                </a:solidFill>
                <a:latin typeface="Consolas"/>
              </a:rPr>
              <a:t>← RESPONSE</a:t>
            </a:r>
          </a:p>
          <a:p>
            <a:pPr algn="l"/>
            <a:r>
              <a:rPr sz="900" b="0" dirty="0">
                <a:solidFill>
                  <a:srgbClr val="94A3B8"/>
                </a:solidFill>
                <a:latin typeface="Consolas"/>
              </a:rPr>
              <a:t>{</a:t>
            </a:r>
          </a:p>
          <a:p>
            <a:pPr algn="l"/>
            <a:r>
              <a:rPr sz="900" b="0" dirty="0">
                <a:solidFill>
                  <a:srgbClr val="A7F3D0"/>
                </a:solidFill>
                <a:latin typeface="Consolas"/>
              </a:rPr>
              <a:t>  "score"</a:t>
            </a:r>
            <a:r>
              <a:rPr sz="900" b="0" dirty="0">
                <a:solidFill>
                  <a:srgbClr val="94A3B8"/>
                </a:solidFill>
                <a:latin typeface="Consolas"/>
              </a:rPr>
              <a:t>: 0.85,</a:t>
            </a:r>
            <a:endParaRPr lang="pl-PL" sz="900" b="0" dirty="0">
              <a:solidFill>
                <a:srgbClr val="94A3B8"/>
              </a:solidFill>
              <a:latin typeface="Consolas"/>
            </a:endParaRPr>
          </a:p>
          <a:p>
            <a:r>
              <a:rPr lang="pl-PL" sz="900" dirty="0">
                <a:solidFill>
                  <a:srgbClr val="94A3B8"/>
                </a:solidFill>
                <a:latin typeface="Consolas"/>
              </a:rPr>
              <a:t>  </a:t>
            </a:r>
            <a:r>
              <a:rPr lang="pl-PL" sz="900" dirty="0">
                <a:solidFill>
                  <a:srgbClr val="A7F3D0"/>
                </a:solidFill>
                <a:latin typeface="Consolas"/>
              </a:rPr>
              <a:t>"strengths"</a:t>
            </a:r>
            <a:r>
              <a:rPr sz="900" b="0" dirty="0">
                <a:solidFill>
                  <a:srgbClr val="94A3B8"/>
                </a:solidFill>
                <a:latin typeface="Consolas"/>
              </a:rPr>
              <a:t>: ["Correct concept"],</a:t>
            </a:r>
          </a:p>
          <a:p>
            <a:pPr algn="l"/>
            <a:r>
              <a:rPr sz="900" b="0" dirty="0">
                <a:solidFill>
                  <a:srgbClr val="A7F3D0"/>
                </a:solidFill>
                <a:latin typeface="Consolas"/>
              </a:rPr>
              <a:t>  "</a:t>
            </a:r>
            <a:r>
              <a:rPr sz="900" b="0" dirty="0" err="1">
                <a:solidFill>
                  <a:srgbClr val="A7F3D0"/>
                </a:solidFill>
                <a:latin typeface="Consolas"/>
              </a:rPr>
              <a:t>missedConcepts</a:t>
            </a:r>
            <a:r>
              <a:rPr sz="900" b="0" dirty="0">
                <a:solidFill>
                  <a:srgbClr val="A7F3D0"/>
                </a:solidFill>
                <a:latin typeface="Consolas"/>
              </a:rPr>
              <a:t>"</a:t>
            </a:r>
            <a:r>
              <a:rPr sz="900" b="0" dirty="0">
                <a:solidFill>
                  <a:srgbClr val="94A3B8"/>
                </a:solidFill>
                <a:latin typeface="Consolas"/>
              </a:rPr>
              <a:t>: ["heap", "GC algorithms", "mark-and-sweep"],</a:t>
            </a:r>
          </a:p>
          <a:p>
            <a:pPr algn="l"/>
            <a:r>
              <a:rPr sz="900" b="0" dirty="0">
                <a:solidFill>
                  <a:srgbClr val="A7F3D0"/>
                </a:solidFill>
                <a:latin typeface="Consolas"/>
              </a:rPr>
              <a:t>  "feedback"</a:t>
            </a:r>
            <a:r>
              <a:rPr sz="900" b="0" dirty="0">
                <a:solidFill>
                  <a:srgbClr val="94A3B8"/>
                </a:solidFill>
                <a:latin typeface="Consolas"/>
              </a:rPr>
              <a:t>: "Good start but missing technical depth."</a:t>
            </a:r>
          </a:p>
          <a:p>
            <a:pPr algn="l"/>
            <a:r>
              <a:rPr sz="900" b="0" dirty="0">
                <a:solidFill>
                  <a:srgbClr val="94A3B8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SLAJD 4 · DANE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Calibri"/>
              </a:rPr>
              <a:t>Test set: 40 przypadków, 5 klas, ręcznie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2103120" cy="29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10312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883664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correct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Calibri"/>
              </a:rPr>
              <a:t>8 szt.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103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Pełna, precyzyjna
odpowiedź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6352" y="1828800"/>
            <a:ext cx="2103120" cy="29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16352" y="1828800"/>
            <a:ext cx="210312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16352" y="1883664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242316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Calibri"/>
              </a:rPr>
              <a:t>8 szt.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3108960"/>
            <a:ext cx="2103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Częściowo poprawna,
brakuje głębi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4064" y="1828800"/>
            <a:ext cx="2103120" cy="29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84064" y="1828800"/>
            <a:ext cx="210312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84064" y="1883664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wrong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242316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Calibri"/>
              </a:rPr>
              <a:t>8 szt.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3108960"/>
            <a:ext cx="2103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Zawiera błędy
merytoryczne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064" y="4434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EF4444"/>
                </a:solidFill>
                <a:latin typeface="Calibri"/>
              </a:rPr>
              <a:t>ADVERSARIAL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51776" y="1828800"/>
            <a:ext cx="2103120" cy="29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51776" y="1828800"/>
            <a:ext cx="210312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51776" y="1883664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waffle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51776" y="242316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Calibri"/>
              </a:rPr>
              <a:t>8 szt.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1776" y="3108960"/>
            <a:ext cx="2103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Brzmi mądrze,
ale jest pusta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6" y="4434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EF4444"/>
                </a:solidFill>
                <a:latin typeface="Calibri"/>
              </a:rPr>
              <a:t>ADVERSARIAL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1828800"/>
            <a:ext cx="2103120" cy="29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619488" y="1828800"/>
            <a:ext cx="210312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19488" y="1883664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evasive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242316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Calibri"/>
              </a:rPr>
              <a:t>8 szt.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3108960"/>
            <a:ext cx="2103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Kandydat przyznaje
się do niewiedzy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44348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EF4444"/>
                </a:solidFill>
                <a:latin typeface="Calibri"/>
              </a:rPr>
              <a:t>ADVERSARIAL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25320"/>
            <a:ext cx="1109167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349240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0D9488"/>
                </a:solidFill>
                <a:latin typeface="Calibri"/>
              </a:rPr>
              <a:t>ŁĄCZNIE 40 PAR Q&amp;A  · 50 PAR Q&amp;A W BAZIE WIEDZY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62356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3 z 5 klas to grupa adversarialna — odpowiedzi, które NIE zasługują na pozytywną ocenę, ale mogą zmylić model.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MockBean · LLM-as-a-Judge · Jakub Jurkian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4 / 9</a:t>
            </a:r>
          </a:p>
        </p:txBody>
      </p:sp>
      <p:sp>
        <p:nvSpPr>
          <p:cNvPr id="40" name="AccentBar"/>
          <p:cNvSpPr/>
          <p:nvPr/>
        </p:nvSpPr>
        <p:spPr>
          <a:xfrm>
            <a:off x="548640" y="4889744"/>
            <a:ext cx="54864" cy="35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ExampleBox"/>
          <p:cNvSpPr/>
          <p:nvPr/>
        </p:nvSpPr>
        <p:spPr>
          <a:xfrm>
            <a:off x="621504" y="4889744"/>
            <a:ext cx="11021808" cy="35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lIns="91440" tIns="45720" rIns="91440" bIns="45720" rtlCol="0" anchor="ctr"/>
          <a:lstStyle/>
          <a:p>
            <a:pPr algn="l"/>
            <a:r>
              <a:rPr sz="1000" b="1">
                <a:solidFill>
                  <a:srgbClr val="0D9488"/>
                </a:solidFill>
                <a:latin typeface="Consolas"/>
              </a:rPr>
              <a:t>PRZYKŁAD — waffle</a:t>
            </a:r>
            <a:r>
              <a:rPr sz="1000" b="0">
                <a:solidFill>
                  <a:srgbClr val="64748B"/>
                </a:solidFill>
                <a:latin typeface="Consolas"/>
              </a:rPr>
              <a:t>    Q: "What is Garbage Collector?"  |  A: "GC automatically manages memory in a transparent way..."</a:t>
            </a:r>
            <a:r>
              <a:rPr sz="1000" b="0">
                <a:solidFill>
                  <a:srgbClr val="94A3B8"/>
                </a:solidFill>
                <a:latin typeface="Consolas"/>
              </a:rPr>
              <a:t>    label: waffle  →  oczekiwany bucket: low  |  model zwrócił: </a:t>
            </a:r>
            <a:r>
              <a:rPr sz="1000" b="1">
                <a:solidFill>
                  <a:srgbClr val="F87171"/>
                </a:solidFill>
                <a:latin typeface="Consolas"/>
              </a:rPr>
              <a:t>score 0.71 → correct  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SLAJD 5 · WYNIKI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Calibri"/>
              </a:rPr>
              <a:t>Accuracy: 3 modele × 2 tryby × 2 runy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9728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830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RAG · Run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7830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RAG · Run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830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Pure · Run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7830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Pure · Run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10972800" cy="502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3042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F172A"/>
                </a:solidFill>
                <a:latin typeface="Calibri"/>
              </a:rPr>
              <a:t>llama3.1:8b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30428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50,0%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30428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50,0%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30428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57,5%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30428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57,5%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697480"/>
            <a:ext cx="10972800" cy="502920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280720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F172A"/>
                </a:solidFill>
                <a:latin typeface="Calibri"/>
              </a:rPr>
              <a:t>gemini-2.5-flash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80720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80,0%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80720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80,0%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80720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87,5%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80720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82,5%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00400"/>
            <a:ext cx="10972800" cy="502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31012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claude-sonnet-4-6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33101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82,5%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3101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82,5%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101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EF4444"/>
                </a:solidFill>
                <a:latin typeface="Calibri"/>
              </a:rPr>
              <a:t>92,5%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3101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EF4444"/>
                </a:solidFill>
                <a:latin typeface="Calibri"/>
              </a:rPr>
              <a:t>92,5%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069080"/>
            <a:ext cx="10972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31520" y="4069080"/>
            <a:ext cx="73152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  <a:latin typeface="Calibri"/>
              </a:rPr>
              <a:t>GŁÓWNE OBSERWACJE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572000"/>
            <a:ext cx="10058400" cy="6001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1E293B"/>
                </a:solidFill>
                <a:latin typeface="Calibri"/>
              </a:rPr>
              <a:t>• Claude Sonnet 4.6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prowadzi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we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wszystkich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konfiguracjach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(do 92,5%)
• Llama3.1:8b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wyraźnie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odstaje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różnica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z Claude do 35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punktów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procentowych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
• We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wszystkich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trzech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E293B"/>
                </a:solidFill>
                <a:latin typeface="Calibri"/>
              </a:rPr>
              <a:t>modelach</a:t>
            </a:r>
            <a:r>
              <a:rPr sz="1300" b="0" dirty="0">
                <a:solidFill>
                  <a:srgbClr val="1E293B"/>
                </a:solidFill>
                <a:latin typeface="Calibri"/>
              </a:rPr>
              <a:t> Pure Prompt &gt; RAG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MockBean · LLM-as-a-Judge · Jakub Jurkian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  <a:latin typeface="Calibri"/>
              </a:rPr>
              <a:t>ODKRYCIE BADAWCZE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Pure Prompt &gt; RAG — dla każdego modelu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7" y="2103120"/>
            <a:ext cx="347472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447" y="2103120"/>
            <a:ext cx="347472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447" y="2331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" y="27432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+10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" y="370332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Calibri"/>
              </a:rPr>
              <a:t>82,5% → 92,5%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8487" y="2103120"/>
            <a:ext cx="347472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58487" y="2103120"/>
            <a:ext cx="347472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58487" y="2331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GEMINI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487" y="27432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+7,5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487" y="370332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Calibri"/>
              </a:rPr>
              <a:t>80,0% → 87,5%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527" y="2103120"/>
            <a:ext cx="347472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07527" y="2103120"/>
            <a:ext cx="347472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7527" y="2331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7527" y="27432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+7,5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7527" y="370332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F8FAFC"/>
                </a:solidFill>
                <a:latin typeface="Calibri"/>
              </a:rPr>
              <a:t>50,0% → 57,5%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663440"/>
            <a:ext cx="11091672" cy="1554480"/>
          </a:xfrm>
          <a:prstGeom prst="rect">
            <a:avLst/>
          </a:prstGeom>
          <a:solidFill>
            <a:srgbClr val="070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HIPOTEZA: PARTIAL-MATCH 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66360"/>
            <a:ext cx="10515600" cy="6001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F8FAFC"/>
                </a:solidFill>
                <a:latin typeface="Calibri"/>
              </a:rPr>
              <a:t>Top-1 retrieval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podaje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sędziemu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wzorzec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który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NIE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musi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być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semantycznie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idealny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dla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pytania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.
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Sędzia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zaczyna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nagradzać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odpowiedzi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za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leksykalne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podobieństwo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do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wzorca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zamiast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za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merytorykę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.
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Dla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domeny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dobrze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pokrytej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pre-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trainingiem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(Java) — to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zakłócenie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nie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8FAFC"/>
                </a:solidFill>
                <a:latin typeface="Calibri"/>
              </a:rPr>
              <a:t>pomoc</a:t>
            </a:r>
            <a:r>
              <a:rPr sz="1300" b="0" dirty="0">
                <a:solidFill>
                  <a:srgbClr val="F8FAFC"/>
                </a:solidFill>
                <a:latin typeface="Calibri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MockBean · LLM-as-a-Judge · Jakub Jurkian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SLAJD 8 · PRAGMATYKA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Calibri"/>
              </a:rPr>
              <a:t>Latencja i koszt: pareto-front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7" y="1737360"/>
            <a:ext cx="347472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447" y="1737360"/>
            <a:ext cx="347472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447" y="18105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CLAUDE Sonnet 4.6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" y="2331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D9488"/>
                </a:solidFill>
                <a:latin typeface="Calibri"/>
              </a:rPr>
              <a:t>WYBÓR JAKOŚCIOWY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" y="265176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0F172A"/>
                </a:solidFill>
                <a:latin typeface="Calibri"/>
              </a:rPr>
              <a:t>92,5%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" y="34747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5207" y="3886200"/>
            <a:ext cx="2743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3767" y="40233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latencja mediana: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42519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Calibri"/>
              </a:rPr>
              <a:t>7,5 s / ocena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767" y="46177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koszt: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767" y="4846320"/>
            <a:ext cx="2926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l-PL" sz="1300" b="1" dirty="0">
                <a:solidFill>
                  <a:srgbClr val="1E293B"/>
                </a:solidFill>
                <a:latin typeface="Calibri"/>
              </a:rPr>
              <a:t>0,75¢ / ocena</a:t>
            </a:r>
            <a:endParaRPr sz="1300" b="1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83767" y="51663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Najwyższa trafność.
Najdroższy w użyciu.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8487" y="1737360"/>
            <a:ext cx="347472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58487" y="1737360"/>
            <a:ext cx="3474720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58487" y="18105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GEMINI 2.5 Flash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8487" y="2331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EF4444"/>
                </a:solidFill>
                <a:latin typeface="Calibri"/>
              </a:rPr>
              <a:t>SWEET SPOT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8487" y="265176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0F172A"/>
                </a:solidFill>
                <a:latin typeface="Calibri"/>
              </a:rPr>
              <a:t>85,0%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34747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accuracy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24247" y="3886200"/>
            <a:ext cx="2743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32807" y="40233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latencja mediana: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2807" y="42519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Calibri"/>
              </a:rPr>
              <a:t>6,8 s / ocena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2807" y="46177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koszt: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2807" y="4846320"/>
            <a:ext cx="2926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pl-PL" sz="1300" b="1" dirty="0">
                <a:solidFill>
                  <a:srgbClr val="1E293B"/>
                </a:solidFill>
                <a:latin typeface="Calibri"/>
              </a:rPr>
              <a:t>0,075</a:t>
            </a:r>
            <a:r>
              <a:rPr lang="pl-PL" sz="1300" b="1" dirty="0">
                <a:solidFill>
                  <a:srgbClr val="1E293B"/>
                </a:solidFill>
              </a:rPr>
              <a:t>¢</a:t>
            </a:r>
            <a:r>
              <a:rPr lang="pl-PL" sz="1300" b="1" dirty="0">
                <a:solidFill>
                  <a:srgbClr val="1E293B"/>
                </a:solidFill>
                <a:latin typeface="Calibri"/>
              </a:rPr>
              <a:t> </a:t>
            </a:r>
            <a:r>
              <a:rPr sz="1300" b="1" dirty="0">
                <a:solidFill>
                  <a:srgbClr val="1E293B"/>
                </a:solidFill>
                <a:latin typeface="Calibri"/>
              </a:rPr>
              <a:t>/ </a:t>
            </a:r>
            <a:r>
              <a:rPr sz="1300" b="1" dirty="0" err="1">
                <a:solidFill>
                  <a:srgbClr val="1E293B"/>
                </a:solidFill>
                <a:latin typeface="Calibri"/>
              </a:rPr>
              <a:t>ocen</a:t>
            </a:r>
            <a:r>
              <a:rPr lang="pl-PL" sz="1300" b="1" dirty="0">
                <a:solidFill>
                  <a:srgbClr val="1E293B"/>
                </a:solidFill>
                <a:latin typeface="Calibri"/>
              </a:rPr>
              <a:t>a</a:t>
            </a:r>
            <a:endParaRPr sz="1300" b="1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632807" y="51663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Najlepszy stosunek
jakość/cena.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7527" y="1737360"/>
            <a:ext cx="347472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07527" y="1737360"/>
            <a:ext cx="3474720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07527" y="18105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LLAMA 3.1:8b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7527" y="2331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Calibri"/>
              </a:rPr>
              <a:t>BUDŻETOWO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7527" y="265176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0F172A"/>
                </a:solidFill>
                <a:latin typeface="Calibri"/>
              </a:rPr>
              <a:t>57,5%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7527" y="34747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alibri"/>
              </a:rPr>
              <a:t>accuracy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73287" y="3886200"/>
            <a:ext cx="2743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81847" y="40233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latencja mediana: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1847" y="42519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Calibri"/>
              </a:rPr>
              <a:t>25,6 s / ocena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1847" y="46177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koszt: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1847" y="48463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Calibri"/>
              </a:rPr>
              <a:t>$0 (lokalnie)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1847" y="51663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Darmowa, ale wolna
i niedokładna.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MockBean · LLM-as-a-Judge · Jakub Jurkian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D9488"/>
                </a:solidFill>
                <a:latin typeface="Calibri"/>
              </a:rPr>
              <a:t>PODSUMOWANIE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Ograniczenia i wnioski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  <a:latin typeface="Calibri"/>
              </a:rPr>
              <a:t>OGRANICZENIA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F4444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 = 40 przypadków testowych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606040"/>
            <a:ext cx="46634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F8FAFC"/>
                </a:solidFill>
                <a:latin typeface="Calibri"/>
              </a:rPr>
              <a:t>niewielka</a:t>
            </a:r>
            <a:r>
              <a:rPr sz="11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F8FAFC"/>
                </a:solidFill>
                <a:latin typeface="Calibri"/>
              </a:rPr>
              <a:t>próba</a:t>
            </a:r>
            <a:r>
              <a:rPr sz="1100" b="0" dirty="0">
                <a:solidFill>
                  <a:srgbClr val="F8FAFC"/>
                </a:solidFill>
                <a:latin typeface="Calibri"/>
              </a:rPr>
              <a:t>; </a:t>
            </a:r>
            <a:r>
              <a:rPr lang="pl-PL" sz="1100" dirty="0">
                <a:solidFill>
                  <a:srgbClr val="F8FAFC"/>
                </a:solidFill>
                <a:latin typeface="Calibri"/>
              </a:rPr>
              <a:t>lecz na niej już można wynieść pewne wnioski</a:t>
            </a:r>
            <a:endParaRPr sz="1100" b="0" dirty="0">
              <a:solidFill>
                <a:srgbClr val="F8FAFC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F4444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4290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Tylko top-1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749040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warto by porównać top-3 i top-5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EF4444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572000"/>
            <a:ext cx="46634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Brak huma</a:t>
            </a:r>
            <a:r>
              <a:rPr lang="pl-PL" sz="1400" b="1" dirty="0">
                <a:solidFill>
                  <a:srgbClr val="FFFFFF"/>
                </a:solidFill>
                <a:latin typeface="Calibri"/>
              </a:rPr>
              <a:t>n-expert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892040"/>
            <a:ext cx="46634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F8FAFC"/>
                </a:solidFill>
                <a:latin typeface="Calibri"/>
              </a:rPr>
              <a:t>etykiety</a:t>
            </a:r>
            <a:r>
              <a:rPr sz="11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F8FAFC"/>
                </a:solidFill>
                <a:latin typeface="Calibri"/>
              </a:rPr>
              <a:t>wystawione</a:t>
            </a:r>
            <a:r>
              <a:rPr sz="11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F8FAFC"/>
                </a:solidFill>
                <a:latin typeface="Calibri"/>
              </a:rPr>
              <a:t>przez</a:t>
            </a:r>
            <a:r>
              <a:rPr lang="pl-PL" sz="1100" dirty="0">
                <a:solidFill>
                  <a:srgbClr val="F8FAFC"/>
                </a:solidFill>
                <a:latin typeface="Calibri"/>
              </a:rPr>
              <a:t>e mnie</a:t>
            </a:r>
            <a:r>
              <a:rPr sz="1100" b="0" dirty="0">
                <a:solidFill>
                  <a:srgbClr val="F8FAFC"/>
                </a:solidFill>
                <a:latin typeface="Calibri"/>
              </a:rPr>
              <a:t>, </a:t>
            </a:r>
            <a:r>
              <a:rPr sz="1100" b="0" dirty="0" err="1">
                <a:solidFill>
                  <a:srgbClr val="F8FAFC"/>
                </a:solidFill>
                <a:latin typeface="Calibri"/>
              </a:rPr>
              <a:t>nie</a:t>
            </a:r>
            <a:r>
              <a:rPr sz="11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lang="pl-PL" sz="1100" dirty="0">
                <a:solidFill>
                  <a:srgbClr val="F8FAFC"/>
                </a:solidFill>
                <a:latin typeface="Calibri"/>
              </a:rPr>
              <a:t>p</a:t>
            </a:r>
            <a:r>
              <a:rPr sz="1100" b="0" dirty="0" err="1">
                <a:solidFill>
                  <a:srgbClr val="F8FAFC"/>
                </a:solidFill>
                <a:latin typeface="Calibri"/>
              </a:rPr>
              <a:t>anel</a:t>
            </a:r>
            <a:r>
              <a:rPr sz="1100" b="0" dirty="0">
                <a:solidFill>
                  <a:srgbClr val="F8FAFC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F8FAFC"/>
                </a:solidFill>
                <a:latin typeface="Calibri"/>
              </a:rPr>
              <a:t>ekspertów</a:t>
            </a:r>
            <a:endParaRPr sz="1100" b="0" dirty="0">
              <a:solidFill>
                <a:srgbClr val="F8FAF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Calibri"/>
              </a:rPr>
              <a:t>WNIOSKI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77440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20840" y="2286000"/>
            <a:ext cx="50292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FFFFFF"/>
                </a:solidFill>
                <a:latin typeface="Calibri"/>
              </a:rPr>
              <a:t>Modele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komercyjne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pl-PL" sz="1200" b="0" dirty="0">
                <a:solidFill>
                  <a:srgbClr val="FFFFFF"/>
                </a:solidFill>
                <a:latin typeface="Calibri"/>
              </a:rPr>
              <a:t>mają potencjał na bycie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sędziami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technicznymi</a:t>
            </a:r>
            <a:r>
              <a:rPr lang="pl-PL" sz="1200" b="0" dirty="0">
                <a:solidFill>
                  <a:srgbClr val="FFFFFF"/>
                </a:solidFill>
                <a:latin typeface="Calibri"/>
              </a:rPr>
              <a:t>, lecz aktualnie bardziej w formie asysty niż pełnoprawnego rekrutera – już może to być pewna optymalizacja.</a:t>
            </a:r>
            <a:endParaRPr sz="12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0" y="3154680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20840" y="3063240"/>
            <a:ext cx="50292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FFFFFF"/>
                </a:solidFill>
                <a:latin typeface="Calibri"/>
              </a:rPr>
              <a:t>RAG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nie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zawsze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pomaga</a:t>
            </a:r>
            <a:r>
              <a:rPr lang="pl-PL" sz="1200" dirty="0">
                <a:solidFill>
                  <a:srgbClr val="FFFFFF"/>
                </a:solidFill>
                <a:latin typeface="Calibri"/>
              </a:rPr>
              <a:t>, zwłaszcza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dla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domen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pl-PL" sz="1200" b="0" dirty="0">
                <a:solidFill>
                  <a:srgbClr val="FFFFFF"/>
                </a:solidFill>
                <a:latin typeface="Calibri"/>
              </a:rPr>
              <a:t>dobrze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pokrytych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pre-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trainingiem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pl-PL" sz="1200" b="0" dirty="0">
                <a:solidFill>
                  <a:srgbClr val="FFFFFF"/>
                </a:solidFill>
                <a:latin typeface="Calibri"/>
              </a:rPr>
              <a:t>(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partial-match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bia</a:t>
            </a:r>
            <a:r>
              <a:rPr lang="pl-PL" sz="1200" b="0" dirty="0">
                <a:solidFill>
                  <a:srgbClr val="FFFFFF"/>
                </a:solidFill>
                <a:latin typeface="Calibri"/>
              </a:rPr>
              <a:t>s)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931920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384048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FFFFFF"/>
                </a:solidFill>
                <a:latin typeface="Calibri"/>
              </a:rPr>
              <a:t>Rozmiar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modelu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ma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kluczowe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znaczenie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— Llama 8B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nie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nadaje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Calibri"/>
              </a:rPr>
              <a:t>się</a:t>
            </a:r>
            <a:r>
              <a:rPr sz="12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pl-PL" sz="1200" dirty="0">
                <a:solidFill>
                  <a:srgbClr val="FFFFFF"/>
                </a:solidFill>
                <a:latin typeface="Calibri"/>
              </a:rPr>
              <a:t>do tej roli.</a:t>
            </a:r>
            <a:endParaRPr sz="12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00800" y="4709160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0840" y="461772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Determinizm jest istotny w ewaluacji — Claude w pełni stabilny, Gemini z Δ=5 pp.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70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dirty="0" err="1">
                <a:solidFill>
                  <a:srgbClr val="0D9488"/>
                </a:solidFill>
                <a:latin typeface="Calibri"/>
              </a:rPr>
              <a:t>Pełny</a:t>
            </a:r>
            <a:r>
              <a:rPr sz="1400" b="1" dirty="0">
                <a:solidFill>
                  <a:srgbClr val="0D9488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D9488"/>
                </a:solidFill>
                <a:latin typeface="Calibri"/>
              </a:rPr>
              <a:t>raport</a:t>
            </a:r>
            <a:r>
              <a:rPr sz="1400" b="1" dirty="0">
                <a:solidFill>
                  <a:srgbClr val="0D9488"/>
                </a:solidFill>
                <a:latin typeface="Calibri"/>
              </a:rPr>
              <a:t> (LaTeX) </a:t>
            </a:r>
            <a:r>
              <a:rPr lang="pl-PL" sz="1400" b="1" dirty="0">
                <a:solidFill>
                  <a:srgbClr val="0D9488"/>
                </a:solidFill>
                <a:latin typeface="Calibri"/>
              </a:rPr>
              <a:t>i</a:t>
            </a:r>
            <a:r>
              <a:rPr sz="1400" b="1" dirty="0">
                <a:solidFill>
                  <a:srgbClr val="0D9488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D9488"/>
                </a:solidFill>
                <a:latin typeface="Calibri"/>
              </a:rPr>
              <a:t>kod</a:t>
            </a:r>
            <a:r>
              <a:rPr sz="1400" b="1" dirty="0">
                <a:solidFill>
                  <a:srgbClr val="0D9488"/>
                </a:solidFill>
                <a:latin typeface="Calibri"/>
              </a:rPr>
              <a:t> </a:t>
            </a:r>
            <a:r>
              <a:rPr lang="pl-PL" sz="1400" b="1" dirty="0">
                <a:solidFill>
                  <a:srgbClr val="0D9488"/>
                </a:solidFill>
                <a:latin typeface="Calibri"/>
              </a:rPr>
              <a:t> =&gt; </a:t>
            </a:r>
            <a:r>
              <a:rPr sz="1400" b="1" dirty="0">
                <a:solidFill>
                  <a:srgbClr val="0D9488"/>
                </a:solidFill>
                <a:latin typeface="Calibri"/>
              </a:rPr>
              <a:t>GitHub</a:t>
            </a:r>
            <a:r>
              <a:rPr lang="pl-PL" sz="1400" b="1" dirty="0">
                <a:solidFill>
                  <a:srgbClr val="0D9488"/>
                </a:solidFill>
              </a:rPr>
              <a:t>  · Dziękuję</a:t>
            </a:r>
            <a:endParaRPr sz="1400" b="1" dirty="0">
              <a:solidFill>
                <a:srgbClr val="0D9488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MockBean · LLM-as-a-Judge · Jakub Jurkian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829</Words>
  <Application>Microsoft Office PowerPoint</Application>
  <PresentationFormat>Widescreen</PresentationFormat>
  <Paragraphs>159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Jakub Jurkian</cp:lastModifiedBy>
  <cp:revision>29</cp:revision>
  <dcterms:created xsi:type="dcterms:W3CDTF">2013-01-27T09:14:16Z</dcterms:created>
  <dcterms:modified xsi:type="dcterms:W3CDTF">2026-05-30T08:57:03Z</dcterms:modified>
  <cp:category/>
</cp:coreProperties>
</file>